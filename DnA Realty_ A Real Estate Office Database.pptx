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5d40072b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5d40072b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5d40072b6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5d40072b6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5d40072b6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5d40072b6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5d40072b6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5d40072b6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5d40072b6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5d40072b6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5d487465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5d487465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5d40072b6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5d40072b6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5d40072b6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5d40072b6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5d40072b6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5d40072b6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5d40072b6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5d40072b6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5d40072b6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5d40072b6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5d40072b6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f5d40072b6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5d40072b6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5d40072b6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5d40072b6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5d40072b6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5d40072b6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f5d40072b6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5d40072b6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f5d40072b6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jp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DnA Realty: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 Real Estate Office Database</a:t>
            </a:r>
            <a:endParaRPr sz="24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Anuraag Dasari </a:t>
            </a:r>
            <a:r>
              <a:rPr lang="en"/>
              <a:t>and</a:t>
            </a:r>
            <a:r>
              <a:rPr lang="en"/>
              <a:t> Dhanush Annoji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Systems Project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5850" y="2583913"/>
            <a:ext cx="3054674" cy="17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7270225" y="3260975"/>
            <a:ext cx="11475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(realty)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the application do?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/>
              <a:t>Search the market: </a:t>
            </a:r>
            <a:r>
              <a:rPr lang="en"/>
              <a:t>One flexible property search answers every “what’s for sale?” question: by city, district, price, beds, or pool.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/>
              <a:t>Record sales: </a:t>
            </a:r>
            <a:r>
              <a:rPr lang="en">
                <a:solidFill>
                  <a:srgbClr val="5E6E7E"/>
                </a:solidFill>
                <a:latin typeface="Calibri"/>
                <a:ea typeface="Calibri"/>
                <a:cs typeface="Calibri"/>
                <a:sym typeface="Calibri"/>
              </a:rPr>
              <a:t>Staff record a sale against a listed home; the office’s reports update instantly.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/>
              <a:t>Track agent performance: </a:t>
            </a:r>
            <a:r>
              <a:rPr lang="en">
                <a:solidFill>
                  <a:srgbClr val="5E6E7E"/>
                </a:solidFill>
                <a:latin typeface="Calibri"/>
                <a:ea typeface="Calibri"/>
                <a:cs typeface="Calibri"/>
                <a:sym typeface="Calibri"/>
              </a:rPr>
              <a:t>Per-agent totals, average sale price, and average days on market for any year.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/>
              <a:t>Manage the office:</a:t>
            </a:r>
            <a:r>
              <a:rPr lang="en"/>
              <a:t> </a:t>
            </a:r>
            <a:r>
              <a:rPr lang="en">
                <a:solidFill>
                  <a:srgbClr val="5E6E7E"/>
                </a:solidFill>
                <a:latin typeface="Calibri"/>
                <a:ea typeface="Calibri"/>
                <a:cs typeface="Calibri"/>
                <a:sym typeface="Calibri"/>
              </a:rPr>
              <a:t>Add agents and keep buyer/seller records.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into: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app.py: </a:t>
            </a:r>
            <a:r>
              <a:rPr lang="en"/>
              <a:t>Tkinter GUI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db.py:</a:t>
            </a:r>
            <a:r>
              <a:rPr lang="en"/>
              <a:t> data layer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schema.sql + seed.py</a:t>
            </a:r>
            <a:r>
              <a:rPr b="1" lang="en"/>
              <a:t>:</a:t>
            </a:r>
            <a:r>
              <a:rPr lang="en"/>
              <a:t> schema definition and sample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realestate.db:</a:t>
            </a:r>
            <a:r>
              <a:rPr lang="en"/>
              <a:t> the SQLite database file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 model: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Five relations: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agents: agent_id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sellers: seller_id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buyers: buyer_id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properties: property_id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sales: sale_id</a:t>
            </a:r>
            <a:endParaRPr/>
          </a:p>
        </p:txBody>
      </p:sp>
      <p:sp>
        <p:nvSpPr>
          <p:cNvPr id="108" name="Google Shape;108;p16"/>
          <p:cNvSpPr txBox="1"/>
          <p:nvPr>
            <p:ph idx="2" type="body"/>
          </p:nvPr>
        </p:nvSpPr>
        <p:spPr>
          <a:xfrm>
            <a:off x="4424525" y="1438125"/>
            <a:ext cx="4058400" cy="31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schema.sql: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959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sales.property_id is UNIQUE, a home sells at most once.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“For sale” is derived: a property with no sales row is on the market. No status flag to forget to update.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6" title="Screenshot 2026-07-27 at 11.25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8371" y="1780475"/>
            <a:ext cx="4694554" cy="132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692750" y="5702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E-R Diagram</a:t>
            </a:r>
            <a:endParaRPr/>
          </a:p>
        </p:txBody>
      </p:sp>
      <p:pic>
        <p:nvPicPr>
          <p:cNvPr id="115" name="Google Shape;115;p17" title="Screenshot 2026-07-27 at 11.51.2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3538" y="1243175"/>
            <a:ext cx="4706823" cy="373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727650" y="5996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E-R Diagram Cont.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729450" y="1364750"/>
            <a:ext cx="7688700" cy="29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8"/>
              <a:t>Entities: </a:t>
            </a:r>
            <a:r>
              <a:rPr b="1" lang="en"/>
              <a:t>agents, sellers, buyers, properties, sales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58"/>
              <a:t>Attributes: </a:t>
            </a:r>
            <a:r>
              <a:rPr b="1" lang="en"/>
              <a:t>agents</a:t>
            </a:r>
            <a:r>
              <a:rPr lang="en"/>
              <a:t>: agent_id (PK), name, phone, email; </a:t>
            </a:r>
            <a:r>
              <a:rPr b="1" lang="en"/>
              <a:t>sellers</a:t>
            </a:r>
            <a:r>
              <a:rPr lang="en"/>
              <a:t>: seller_id (PK), name, phone; </a:t>
            </a:r>
            <a:r>
              <a:rPr b="1" lang="en"/>
              <a:t>buyers</a:t>
            </a:r>
            <a:r>
              <a:rPr lang="en"/>
              <a:t>: buyer_id (PK), name, phone; </a:t>
            </a:r>
            <a:r>
              <a:rPr b="1" lang="en"/>
              <a:t>properties</a:t>
            </a:r>
            <a:r>
              <a:rPr lang="en"/>
              <a:t>: property_id (PK), address, city, school_district, bedrooms, bathrooms, has_pool, list_price, listing_date, photo; </a:t>
            </a:r>
            <a:r>
              <a:rPr b="1" lang="en"/>
              <a:t>sales</a:t>
            </a:r>
            <a:r>
              <a:rPr lang="en"/>
              <a:t>: sale_id (PK), sale_price, sale_date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58"/>
              <a:t>Relationships/Cardinality: </a:t>
            </a:r>
            <a:r>
              <a:rPr b="1" lang="en"/>
              <a:t>owns</a:t>
            </a:r>
            <a:r>
              <a:rPr lang="en"/>
              <a:t> (sellers–properties): one-to-many.; </a:t>
            </a:r>
            <a:r>
              <a:rPr b="1" lang="en"/>
              <a:t>lists</a:t>
            </a:r>
            <a:r>
              <a:rPr lang="en"/>
              <a:t> (agents–properties): one-to-many.; </a:t>
            </a:r>
            <a:r>
              <a:rPr b="1" lang="en"/>
              <a:t>sells</a:t>
            </a:r>
            <a:r>
              <a:rPr lang="en"/>
              <a:t> (agents–sales): one-to-many.; </a:t>
            </a:r>
            <a:r>
              <a:rPr b="1" lang="en"/>
              <a:t>buys</a:t>
            </a:r>
            <a:r>
              <a:rPr lang="en"/>
              <a:t> (buyers–sales): one-to-many.; </a:t>
            </a:r>
            <a:r>
              <a:rPr b="1" lang="en"/>
              <a:t>sold_in</a:t>
            </a:r>
            <a:r>
              <a:rPr lang="en"/>
              <a:t> (properties–sales): one-to-one.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58"/>
              <a:t>Participation: </a:t>
            </a:r>
            <a:r>
              <a:rPr lang="en"/>
              <a:t>properties in owns, lists, sales in sells, buys, sold_in: </a:t>
            </a:r>
            <a:r>
              <a:rPr b="1" lang="en"/>
              <a:t>total</a:t>
            </a:r>
            <a:r>
              <a:rPr lang="en"/>
              <a:t>; properties in sold_in: </a:t>
            </a:r>
            <a:r>
              <a:rPr b="1" lang="en"/>
              <a:t>partial</a:t>
            </a:r>
            <a:r>
              <a:rPr lang="en"/>
              <a:t> (a property need not be sold, it can be "for sale" with no sale row); sellers, agents, buyers: </a:t>
            </a:r>
            <a:r>
              <a:rPr b="1" lang="en"/>
              <a:t>partial</a:t>
            </a:r>
            <a:r>
              <a:rPr lang="en"/>
              <a:t> in their relationships (a seller/agent/buyer may exist without any linked property or sale).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16"/>
              <a:t>Roles:</a:t>
            </a:r>
            <a:r>
              <a:rPr lang="en"/>
              <a:t> An agent plays two roles: the selling agent (sells relationship, selling_agent_id) and the buyer's agent (buyer_agent_id, optional)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177550" y="1387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Relational Schema</a:t>
            </a:r>
            <a:endParaRPr/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3375" y="570100"/>
            <a:ext cx="5537826" cy="426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0"/>
          <p:cNvPicPr preferRelativeResize="0"/>
          <p:nvPr/>
        </p:nvPicPr>
        <p:blipFill rotWithShape="1">
          <a:blip r:embed="rId3">
            <a:alphaModFix/>
          </a:blip>
          <a:srcRect b="0" l="23676" r="0" t="0"/>
          <a:stretch/>
        </p:blipFill>
        <p:spPr>
          <a:xfrm>
            <a:off x="2194688" y="589018"/>
            <a:ext cx="4754626" cy="433604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0"/>
          <p:cNvSpPr txBox="1"/>
          <p:nvPr/>
        </p:nvSpPr>
        <p:spPr>
          <a:xfrm>
            <a:off x="476975" y="2214400"/>
            <a:ext cx="2149800" cy="10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Relational Schema:</a:t>
            </a:r>
            <a:endParaRPr b="1" sz="21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Counts</a:t>
            </a:r>
            <a:endParaRPr/>
          </a:p>
        </p:txBody>
      </p:sp>
      <p:pic>
        <p:nvPicPr>
          <p:cNvPr id="139" name="Google Shape;139;p21" title="Screenshot 2026-07-28 at 12.20.4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850" y="1969388"/>
            <a:ext cx="3042900" cy="218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1" title="Screenshot 2026-07-28 at 12.25.0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2550" y="2631100"/>
            <a:ext cx="3897276" cy="68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(A):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44"/>
              <a:t>Find addresses of homes for sale in the city “Bethlehem” costing between $200,000 and $250,000.</a:t>
            </a:r>
            <a:endParaRPr sz="2044"/>
          </a:p>
        </p:txBody>
      </p:sp>
      <p:sp>
        <p:nvSpPr>
          <p:cNvPr id="146" name="Google Shape;146;p2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48 Cedar Ave and 12 Maple St.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2" title="queryAsearch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9" y="2697424"/>
            <a:ext cx="4496865" cy="168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2" title="Screenshot 2026-07-27 at 11.30.4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41475"/>
            <a:ext cx="4496874" cy="1993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(B)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22"/>
              <a:t>Find addresses of homes for sale in the school district “Parkland” with 4 or more bedrooms and no swimming pool.</a:t>
            </a:r>
            <a:endParaRPr sz="2022"/>
          </a:p>
        </p:txBody>
      </p:sp>
      <p:sp>
        <p:nvSpPr>
          <p:cNvPr id="154" name="Google Shape;154;p2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400"/>
              <a:t>5 Willow Way (5 bed) and 77 Orchard Ln (4 bed).</a:t>
            </a:r>
            <a:endParaRPr sz="1400"/>
          </a:p>
        </p:txBody>
      </p:sp>
      <p:pic>
        <p:nvPicPr>
          <p:cNvPr id="155" name="Google Shape;155;p23" title="queryBsearch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3388" y="2713470"/>
            <a:ext cx="4336075" cy="1953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3" title="Screenshot 2026-07-27 at 11.41.0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5550" y="448285"/>
            <a:ext cx="4336049" cy="1993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</a:t>
            </a:r>
            <a:r>
              <a:rPr lang="en"/>
              <a:t>(C)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Find the name of the agent who has sold the most property in the year 2004 by total dollar value.</a:t>
            </a:r>
            <a:endParaRPr sz="2000"/>
          </a:p>
        </p:txBody>
      </p:sp>
      <p:sp>
        <p:nvSpPr>
          <p:cNvPr id="162" name="Google Shape;162;p24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Bob Saget</a:t>
            </a:r>
            <a:endParaRPr/>
          </a:p>
        </p:txBody>
      </p:sp>
      <p:pic>
        <p:nvPicPr>
          <p:cNvPr id="163" name="Google Shape;163;p24" title="queryCandDsearch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9250" y="3005847"/>
            <a:ext cx="4450350" cy="1585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4" title="Screenshot 2026-07-27 at 11.42.0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9376" y="358199"/>
            <a:ext cx="3890076" cy="247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(D)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For each agent, compute the average selling price of properties sold in 2004, and the average time the property was on the market.  </a:t>
            </a:r>
            <a:endParaRPr sz="2000"/>
          </a:p>
        </p:txBody>
      </p:sp>
      <p:sp>
        <p:nvSpPr>
          <p:cNvPr id="170" name="Google Shape;170;p25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Bob Saget: 2 sales, avg $266,500, 75 days; Kevin Nguyen: 1 sale, avg $201,000, 56 days; Phil Dunphy: 1 sale, avg $168,000, 47 days.</a:t>
            </a:r>
            <a:endParaRPr/>
          </a:p>
        </p:txBody>
      </p:sp>
      <p:pic>
        <p:nvPicPr>
          <p:cNvPr id="171" name="Google Shape;171;p25" title="queryCandDsearch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9250" y="3005847"/>
            <a:ext cx="4450350" cy="1585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5" title="Screenshot 2026-07-27 at 11.44.1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2225" y="547500"/>
            <a:ext cx="4084400" cy="191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(E)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Show a picture of the most expensive house(s) in the database.   </a:t>
            </a:r>
            <a:endParaRPr sz="2000"/>
          </a:p>
        </p:txBody>
      </p:sp>
      <p:sp>
        <p:nvSpPr>
          <p:cNvPr id="178" name="Google Shape;178;p26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101 Summit Dr, Bethlehem: $640,000 (has a photo BLOB; the GUI renders it)</a:t>
            </a:r>
            <a:endParaRPr/>
          </a:p>
        </p:txBody>
      </p:sp>
      <p:pic>
        <p:nvPicPr>
          <p:cNvPr id="179" name="Google Shape;179;p26" title="query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0425" y="2133663"/>
            <a:ext cx="3060426" cy="281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6" title="Screenshot 2026-07-27 at 11.46.2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5238" y="432825"/>
            <a:ext cx="4110800" cy="136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type="title"/>
          </p:nvPr>
        </p:nvSpPr>
        <p:spPr>
          <a:xfrm>
            <a:off x="724950" y="1168125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(F)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Record the sale of a property that had been listed as being available.  This entails storing the sales price, the buyer, the selling agent, the buyer’s agent (if any), and the date. </a:t>
            </a:r>
            <a:endParaRPr sz="2000"/>
          </a:p>
        </p:txBody>
      </p:sp>
      <p:sp>
        <p:nvSpPr>
          <p:cNvPr id="186" name="Google Shape;186;p27"/>
          <p:cNvSpPr txBox="1"/>
          <p:nvPr>
            <p:ph idx="1" type="subTitle"/>
          </p:nvPr>
        </p:nvSpPr>
        <p:spPr>
          <a:xfrm>
            <a:off x="693600" y="383887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 Pine Rd, Allentown to Harry Potter, selling agent Bob Saget, no buyer's agent, $380,000 on 2005-09-01 inserts a new sales row and the property drops out of the "for sale" list.</a:t>
            </a:r>
            <a:endParaRPr/>
          </a:p>
        </p:txBody>
      </p:sp>
      <p:pic>
        <p:nvPicPr>
          <p:cNvPr id="187" name="Google Shape;187;p27" title="queryFp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4825" y="3260949"/>
            <a:ext cx="4349824" cy="1493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9325" y="158350"/>
            <a:ext cx="4090450" cy="282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(G)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Add a new agent to the database. </a:t>
            </a:r>
            <a:endParaRPr sz="1800"/>
          </a:p>
        </p:txBody>
      </p:sp>
      <p:sp>
        <p:nvSpPr>
          <p:cNvPr id="194" name="Google Shape;194;p28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dding Bart Simpson, 4042158936, bartyboy@realty.com, inserts a new agents row that then appears in the Current agents list.</a:t>
            </a:r>
            <a:endParaRPr/>
          </a:p>
        </p:txBody>
      </p:sp>
      <p:pic>
        <p:nvPicPr>
          <p:cNvPr id="195" name="Google Shape;195;p28" title="quergyGp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760300"/>
            <a:ext cx="4572001" cy="1188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526100"/>
            <a:ext cx="4572000" cy="1448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</a:t>
            </a:r>
            <a:endParaRPr/>
          </a:p>
          <a:p>
            <a:pPr indent="-4089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156"/>
              <a:t>A complete real-estate database</a:t>
            </a:r>
            <a:endParaRPr sz="3156"/>
          </a:p>
          <a:p>
            <a:pPr indent="-4089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156"/>
              <a:t>Clean separation of concerns</a:t>
            </a:r>
            <a:endParaRPr sz="3156"/>
          </a:p>
          <a:p>
            <a:pPr indent="-4089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156"/>
              <a:t>Good schema</a:t>
            </a:r>
            <a:endParaRPr sz="3156"/>
          </a:p>
          <a:p>
            <a:pPr indent="-4089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156"/>
              <a:t>Every required query</a:t>
            </a:r>
            <a:endParaRPr sz="3156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