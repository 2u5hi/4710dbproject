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10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2603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is a real-estate office database implemented in SQLite with a Tkinter desktop front-end. The presentation walks through the seven required queries A through G, each shown running in the application alongside the SQL that powers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office keeps homes listed for sale, matches buyers to them, and records the transaction when a home sells. The application captures that whole lifecycle. The user never writes SQL — they fill in forms and set filters, and the program turns that into queries behind the scenes.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deliberately separated the user interface from the database logic. The GUI never builds a query string itself — it calls a named Python function such as search_properties or record_sale. That keeps the SQL in one place and makes the interface code simple.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one design decision — property_id UNIQUE in sales — drives every ‘homes for sale’ query. Instead of a status column someone could forget to update, ‘for sale’ is a fact derived from the data: no matching sale means the home is still on the market.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 A joins properties to sales, keeps only rows with no sale (still for sale), and filters by city and price band. Homes just outside the band are excluded, proving the price filter works.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for-sale join as A, now filtered by district, a minimum bedroom count, and has_pool = 0. Two Parkland homes are deliberately excluded — one has a pool, one has only three bedrooms — demonstrating both extra conditions.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 C groups 2004 sales by the selling agent, sums the sale prices, and takes the largest. strftime extracts the year from the stored date so we restrict the sum to 2004.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on market is the sale date minus the listing date. SQLite’s julianday() turns each date into a day-number, so subtracting them gives days on market, which we then average per agent.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store the image bytes directly in the photo column. When the detail window opens, the program reads those bytes back and renders them. Only a few houses carry a photo — the most expensive one always does.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 F inserts a new row into sales. The buyer’s agent may be null. The program first checks the property isn’t already sold, so a home can’t be double-sold.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‘for sale’ and the reports are computed live from the sales table, recording a sale updates everything at once — the home disappears from the for-sale list and shows up in that year’s performance numbers.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 G is a straightforward insert into agents. It also demonstrates the email UNIQUE constraint — adding a duplicate email is rejected. The new agent appears in the list and becomes selectable when recording sales.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a complete office database in SQLite and Tkinter, with all SQL isolated in the data layer, every required query reachable through a natural interface, and a schema where ‘for sale’ is derived rather than maintained by hand.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E9C46A"/>
          </a:solidFill>
          <a:ln/>
        </p:spPr>
        <p:txBody>
          <a:bodyPr/>
          <a:lstStyle/>
          <a:p>
            <a:endParaRPr lang="en-US"/>
          </a:p>
        </p:txBody>
      </p:sp>
      <p:sp>
        <p:nvSpPr>
          <p:cNvPr id="3" name="Text 1"/>
          <p:cNvSpPr/>
          <p:nvPr/>
        </p:nvSpPr>
        <p:spPr>
          <a:xfrm>
            <a:off x="822960" y="1371600"/>
            <a:ext cx="10515600" cy="365760"/>
          </a:xfrm>
          <a:prstGeom prst="rect">
            <a:avLst/>
          </a:prstGeom>
          <a:noFill/>
          <a:ln/>
        </p:spPr>
        <p:txBody>
          <a:bodyPr wrap="square" rtlCol="0" anchor="ctr"/>
          <a:lstStyle/>
          <a:p>
            <a:pPr marL="0" indent="0" algn="l">
              <a:buNone/>
            </a:pPr>
            <a:r>
              <a:rPr lang="en-US" sz="1500" b="1" kern="0" spc="300" dirty="0">
                <a:solidFill>
                  <a:srgbClr val="E9C46A"/>
                </a:solidFill>
                <a:latin typeface="Calibri" pitchFamily="34" charset="0"/>
                <a:ea typeface="Calibri" pitchFamily="34" charset="-122"/>
                <a:cs typeface="Calibri" pitchFamily="34" charset="-120"/>
              </a:rPr>
              <a:t>DATABASE SYSTEMS  ·  FINAL PROJECT PRESENTATION</a:t>
            </a:r>
            <a:endParaRPr lang="en-US" sz="1500" dirty="0"/>
          </a:p>
        </p:txBody>
      </p:sp>
      <p:sp>
        <p:nvSpPr>
          <p:cNvPr id="4" name="Text 2"/>
          <p:cNvSpPr/>
          <p:nvPr/>
        </p:nvSpPr>
        <p:spPr>
          <a:xfrm>
            <a:off x="786384" y="1828800"/>
            <a:ext cx="10607040" cy="1737360"/>
          </a:xfrm>
          <a:prstGeom prst="rect">
            <a:avLst/>
          </a:prstGeom>
          <a:noFill/>
          <a:ln/>
        </p:spPr>
        <p:txBody>
          <a:bodyPr wrap="square" rtlCol="0" anchor="ctr"/>
          <a:lstStyle/>
          <a:p>
            <a:pPr marL="0" indent="0" algn="l">
              <a:lnSpc>
                <a:spcPct val="98000"/>
              </a:lnSpc>
              <a:buNone/>
            </a:pPr>
            <a:r>
              <a:rPr lang="en-US" sz="5000" b="1" dirty="0">
                <a:solidFill>
                  <a:srgbClr val="FFFFFF"/>
                </a:solidFill>
                <a:latin typeface="Cambria" pitchFamily="34" charset="0"/>
                <a:ea typeface="Cambria" pitchFamily="34" charset="-122"/>
                <a:cs typeface="Cambria" pitchFamily="34" charset="-120"/>
              </a:rPr>
              <a:t>Lehigh Valley Realty</a:t>
            </a:r>
            <a:endParaRPr lang="en-US" sz="5000" dirty="0"/>
          </a:p>
          <a:p>
            <a:pPr marL="0" indent="0" algn="l">
              <a:lnSpc>
                <a:spcPct val="98000"/>
              </a:lnSpc>
              <a:buNone/>
            </a:pPr>
            <a:r>
              <a:rPr lang="en-US" sz="5000" b="1" dirty="0">
                <a:solidFill>
                  <a:srgbClr val="E9C46A"/>
                </a:solidFill>
                <a:latin typeface="Cambria" pitchFamily="34" charset="0"/>
                <a:ea typeface="Cambria" pitchFamily="34" charset="-122"/>
                <a:cs typeface="Cambria" pitchFamily="34" charset="-120"/>
              </a:rPr>
              <a:t>Office Database</a:t>
            </a:r>
            <a:endParaRPr lang="en-US" sz="5000" dirty="0"/>
          </a:p>
        </p:txBody>
      </p:sp>
      <p:sp>
        <p:nvSpPr>
          <p:cNvPr id="5" name="Text 3"/>
          <p:cNvSpPr/>
          <p:nvPr/>
        </p:nvSpPr>
        <p:spPr>
          <a:xfrm>
            <a:off x="822960" y="3611880"/>
            <a:ext cx="10515600" cy="457200"/>
          </a:xfrm>
          <a:prstGeom prst="rect">
            <a:avLst/>
          </a:prstGeom>
          <a:noFill/>
          <a:ln/>
        </p:spPr>
        <p:txBody>
          <a:bodyPr wrap="square" rtlCol="0" anchor="ctr"/>
          <a:lstStyle/>
          <a:p>
            <a:pPr marL="0" indent="0">
              <a:buNone/>
            </a:pPr>
            <a:r>
              <a:rPr lang="en-US" sz="1800" dirty="0">
                <a:solidFill>
                  <a:srgbClr val="A9D6E5"/>
                </a:solidFill>
                <a:latin typeface="Calibri" pitchFamily="34" charset="0"/>
                <a:ea typeface="Calibri" pitchFamily="34" charset="-122"/>
                <a:cs typeface="Calibri" pitchFamily="34" charset="-120"/>
              </a:rPr>
              <a:t>A relational database for a real-estate office built with SQLite + Tkinter</a:t>
            </a:r>
            <a:endParaRPr lang="en-US" sz="1800" dirty="0"/>
          </a:p>
        </p:txBody>
      </p:sp>
      <p:sp>
        <p:nvSpPr>
          <p:cNvPr id="21" name="Text 19"/>
          <p:cNvSpPr/>
          <p:nvPr/>
        </p:nvSpPr>
        <p:spPr>
          <a:xfrm>
            <a:off x="822960" y="6172200"/>
            <a:ext cx="7315200" cy="365760"/>
          </a:xfrm>
          <a:prstGeom prst="rect">
            <a:avLst/>
          </a:prstGeom>
          <a:noFill/>
          <a:ln/>
        </p:spPr>
        <p:txBody>
          <a:bodyPr wrap="square" rtlCol="0" anchor="ctr"/>
          <a:lstStyle/>
          <a:p>
            <a:pPr marL="0" indent="0">
              <a:buNone/>
            </a:pPr>
            <a:r>
              <a:rPr lang="en-US" sz="1300" dirty="0">
                <a:solidFill>
                  <a:srgbClr val="9FB8CB"/>
                </a:solidFill>
                <a:latin typeface="Calibri" pitchFamily="34" charset="0"/>
                <a:ea typeface="Calibri" pitchFamily="34" charset="-122"/>
                <a:cs typeface="Calibri" pitchFamily="34" charset="-120"/>
              </a:rPr>
              <a:t>Presented by:  Dhanush Annoji, Anurag Dasari </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rtlCol="0" anchor="ctr"/>
          <a:lstStyle/>
          <a:p>
            <a:pPr marL="0" indent="0">
              <a:buNone/>
            </a:pPr>
            <a:r>
              <a:rPr lang="en-US" sz="3200" b="1" dirty="0">
                <a:solidFill>
                  <a:srgbClr val="13293D"/>
                </a:solidFill>
                <a:latin typeface="Cambria" pitchFamily="34" charset="0"/>
                <a:ea typeface="Cambria" pitchFamily="34" charset="-122"/>
                <a:cs typeface="Cambria" pitchFamily="34" charset="-120"/>
              </a:rPr>
              <a:t>What the application does</a:t>
            </a:r>
            <a:endParaRPr lang="en-US" sz="3200" dirty="0"/>
          </a:p>
        </p:txBody>
      </p:sp>
      <p:sp>
        <p:nvSpPr>
          <p:cNvPr id="3" name="Shape 1"/>
          <p:cNvSpPr/>
          <p:nvPr/>
        </p:nvSpPr>
        <p:spPr>
          <a:xfrm>
            <a:off x="566928" y="1444752"/>
            <a:ext cx="310896" cy="310896"/>
          </a:xfrm>
          <a:prstGeom prst="ellipse">
            <a:avLst/>
          </a:prstGeom>
          <a:solidFill>
            <a:srgbClr val="2A6F97"/>
          </a:solidFill>
          <a:ln/>
        </p:spPr>
        <p:txBody>
          <a:bodyPr/>
          <a:lstStyle/>
          <a:p>
            <a:endParaRPr lang="en-US"/>
          </a:p>
        </p:txBody>
      </p:sp>
      <p:sp>
        <p:nvSpPr>
          <p:cNvPr id="4" name="Text 2"/>
          <p:cNvSpPr/>
          <p:nvPr/>
        </p:nvSpPr>
        <p:spPr>
          <a:xfrm>
            <a:off x="566928" y="1426464"/>
            <a:ext cx="310896" cy="310896"/>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5" name="Text 3"/>
          <p:cNvSpPr/>
          <p:nvPr/>
        </p:nvSpPr>
        <p:spPr>
          <a:xfrm>
            <a:off x="1024128" y="1371600"/>
            <a:ext cx="5760720" cy="365760"/>
          </a:xfrm>
          <a:prstGeom prst="rect">
            <a:avLst/>
          </a:prstGeom>
          <a:noFill/>
          <a:ln/>
        </p:spPr>
        <p:txBody>
          <a:bodyPr wrap="square" rtlCol="0" anchor="ctr"/>
          <a:lstStyle/>
          <a:p>
            <a:pPr marL="0" indent="0">
              <a:buNone/>
            </a:pPr>
            <a:r>
              <a:rPr lang="en-US" sz="1700" b="1" dirty="0">
                <a:solidFill>
                  <a:srgbClr val="13293D"/>
                </a:solidFill>
                <a:latin typeface="Calibri" pitchFamily="34" charset="0"/>
                <a:ea typeface="Calibri" pitchFamily="34" charset="-122"/>
                <a:cs typeface="Calibri" pitchFamily="34" charset="-120"/>
              </a:rPr>
              <a:t>Search the market</a:t>
            </a:r>
            <a:endParaRPr lang="en-US" sz="1700" dirty="0"/>
          </a:p>
        </p:txBody>
      </p:sp>
      <p:sp>
        <p:nvSpPr>
          <p:cNvPr id="6" name="Text 4"/>
          <p:cNvSpPr/>
          <p:nvPr/>
        </p:nvSpPr>
        <p:spPr>
          <a:xfrm>
            <a:off x="1024128" y="1728216"/>
            <a:ext cx="5852160" cy="640080"/>
          </a:xfrm>
          <a:prstGeom prst="rect">
            <a:avLst/>
          </a:prstGeom>
          <a:noFill/>
          <a:ln/>
        </p:spPr>
        <p:txBody>
          <a:bodyPr wrap="square" rtlCol="0" anchor="ctr"/>
          <a:lstStyle/>
          <a:p>
            <a:pPr marL="0" indent="0">
              <a:buNone/>
            </a:pPr>
            <a:r>
              <a:rPr lang="en-US" sz="1300" dirty="0">
                <a:solidFill>
                  <a:srgbClr val="5E6E7E"/>
                </a:solidFill>
                <a:latin typeface="Calibri" pitchFamily="34" charset="0"/>
                <a:ea typeface="Calibri" pitchFamily="34" charset="-122"/>
                <a:cs typeface="Calibri" pitchFamily="34" charset="-120"/>
              </a:rPr>
              <a:t>One flexible property search answers every “what’s for sale?” question — by city, district, price, beds, or pool.</a:t>
            </a:r>
            <a:endParaRPr lang="en-US" sz="1300" dirty="0"/>
          </a:p>
        </p:txBody>
      </p:sp>
      <p:sp>
        <p:nvSpPr>
          <p:cNvPr id="7" name="Shape 5"/>
          <p:cNvSpPr/>
          <p:nvPr/>
        </p:nvSpPr>
        <p:spPr>
          <a:xfrm>
            <a:off x="566928" y="2615184"/>
            <a:ext cx="310896" cy="310896"/>
          </a:xfrm>
          <a:prstGeom prst="ellipse">
            <a:avLst/>
          </a:prstGeom>
          <a:solidFill>
            <a:srgbClr val="2A6F97"/>
          </a:solidFill>
          <a:ln/>
        </p:spPr>
        <p:txBody>
          <a:bodyPr/>
          <a:lstStyle/>
          <a:p>
            <a:endParaRPr lang="en-US"/>
          </a:p>
        </p:txBody>
      </p:sp>
      <p:sp>
        <p:nvSpPr>
          <p:cNvPr id="8" name="Text 6"/>
          <p:cNvSpPr/>
          <p:nvPr/>
        </p:nvSpPr>
        <p:spPr>
          <a:xfrm>
            <a:off x="566928" y="2596896"/>
            <a:ext cx="310896" cy="310896"/>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p:nvPr/>
        </p:nvSpPr>
        <p:spPr>
          <a:xfrm>
            <a:off x="1024128" y="2542032"/>
            <a:ext cx="5760720" cy="365760"/>
          </a:xfrm>
          <a:prstGeom prst="rect">
            <a:avLst/>
          </a:prstGeom>
          <a:noFill/>
          <a:ln/>
        </p:spPr>
        <p:txBody>
          <a:bodyPr wrap="square" rtlCol="0" anchor="ctr"/>
          <a:lstStyle/>
          <a:p>
            <a:pPr marL="0" indent="0">
              <a:buNone/>
            </a:pPr>
            <a:r>
              <a:rPr lang="en-US" sz="1700" b="1" dirty="0">
                <a:solidFill>
                  <a:srgbClr val="13293D"/>
                </a:solidFill>
                <a:latin typeface="Calibri" pitchFamily="34" charset="0"/>
                <a:ea typeface="Calibri" pitchFamily="34" charset="-122"/>
                <a:cs typeface="Calibri" pitchFamily="34" charset="-120"/>
              </a:rPr>
              <a:t>Record sales</a:t>
            </a:r>
            <a:endParaRPr lang="en-US" sz="1700" dirty="0"/>
          </a:p>
        </p:txBody>
      </p:sp>
      <p:sp>
        <p:nvSpPr>
          <p:cNvPr id="10" name="Text 8"/>
          <p:cNvSpPr/>
          <p:nvPr/>
        </p:nvSpPr>
        <p:spPr>
          <a:xfrm>
            <a:off x="1024128" y="2898648"/>
            <a:ext cx="5852160" cy="640080"/>
          </a:xfrm>
          <a:prstGeom prst="rect">
            <a:avLst/>
          </a:prstGeom>
          <a:noFill/>
          <a:ln/>
        </p:spPr>
        <p:txBody>
          <a:bodyPr wrap="square" rtlCol="0" anchor="ctr"/>
          <a:lstStyle/>
          <a:p>
            <a:pPr marL="0" indent="0">
              <a:buNone/>
            </a:pPr>
            <a:r>
              <a:rPr lang="en-US" sz="1300" dirty="0">
                <a:solidFill>
                  <a:srgbClr val="5E6E7E"/>
                </a:solidFill>
                <a:latin typeface="Calibri" pitchFamily="34" charset="0"/>
                <a:ea typeface="Calibri" pitchFamily="34" charset="-122"/>
                <a:cs typeface="Calibri" pitchFamily="34" charset="-120"/>
              </a:rPr>
              <a:t>Staff record a sale against a listed home; the office’s reports update instantly.</a:t>
            </a:r>
            <a:endParaRPr lang="en-US" sz="1300" dirty="0"/>
          </a:p>
        </p:txBody>
      </p:sp>
      <p:sp>
        <p:nvSpPr>
          <p:cNvPr id="11" name="Shape 9"/>
          <p:cNvSpPr/>
          <p:nvPr/>
        </p:nvSpPr>
        <p:spPr>
          <a:xfrm>
            <a:off x="566928" y="3785616"/>
            <a:ext cx="310896" cy="310896"/>
          </a:xfrm>
          <a:prstGeom prst="ellipse">
            <a:avLst/>
          </a:prstGeom>
          <a:solidFill>
            <a:srgbClr val="2A6F97"/>
          </a:solidFill>
          <a:ln/>
        </p:spPr>
        <p:txBody>
          <a:bodyPr/>
          <a:lstStyle/>
          <a:p>
            <a:endParaRPr lang="en-US"/>
          </a:p>
        </p:txBody>
      </p:sp>
      <p:sp>
        <p:nvSpPr>
          <p:cNvPr id="12" name="Text 10"/>
          <p:cNvSpPr/>
          <p:nvPr/>
        </p:nvSpPr>
        <p:spPr>
          <a:xfrm>
            <a:off x="566928" y="3767328"/>
            <a:ext cx="310896" cy="310896"/>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3" name="Text 11"/>
          <p:cNvSpPr/>
          <p:nvPr/>
        </p:nvSpPr>
        <p:spPr>
          <a:xfrm>
            <a:off x="1024128" y="3712464"/>
            <a:ext cx="5760720" cy="365760"/>
          </a:xfrm>
          <a:prstGeom prst="rect">
            <a:avLst/>
          </a:prstGeom>
          <a:noFill/>
          <a:ln/>
        </p:spPr>
        <p:txBody>
          <a:bodyPr wrap="square" rtlCol="0" anchor="ctr"/>
          <a:lstStyle/>
          <a:p>
            <a:pPr marL="0" indent="0">
              <a:buNone/>
            </a:pPr>
            <a:r>
              <a:rPr lang="en-US" sz="1700" b="1" dirty="0">
                <a:solidFill>
                  <a:srgbClr val="13293D"/>
                </a:solidFill>
                <a:latin typeface="Calibri" pitchFamily="34" charset="0"/>
                <a:ea typeface="Calibri" pitchFamily="34" charset="-122"/>
                <a:cs typeface="Calibri" pitchFamily="34" charset="-120"/>
              </a:rPr>
              <a:t>Track agent performance</a:t>
            </a:r>
            <a:endParaRPr lang="en-US" sz="1700" dirty="0"/>
          </a:p>
        </p:txBody>
      </p:sp>
      <p:sp>
        <p:nvSpPr>
          <p:cNvPr id="14" name="Text 12"/>
          <p:cNvSpPr/>
          <p:nvPr/>
        </p:nvSpPr>
        <p:spPr>
          <a:xfrm>
            <a:off x="1024128" y="4069080"/>
            <a:ext cx="5852160" cy="640080"/>
          </a:xfrm>
          <a:prstGeom prst="rect">
            <a:avLst/>
          </a:prstGeom>
          <a:noFill/>
          <a:ln/>
        </p:spPr>
        <p:txBody>
          <a:bodyPr wrap="square" rtlCol="0" anchor="ctr"/>
          <a:lstStyle/>
          <a:p>
            <a:pPr marL="0" indent="0">
              <a:buNone/>
            </a:pPr>
            <a:r>
              <a:rPr lang="en-US" sz="1300" dirty="0">
                <a:solidFill>
                  <a:srgbClr val="5E6E7E"/>
                </a:solidFill>
                <a:latin typeface="Calibri" pitchFamily="34" charset="0"/>
                <a:ea typeface="Calibri" pitchFamily="34" charset="-122"/>
                <a:cs typeface="Calibri" pitchFamily="34" charset="-120"/>
              </a:rPr>
              <a:t>Per-agent totals, average sale price, and average days on market for any year.</a:t>
            </a:r>
            <a:endParaRPr lang="en-US" sz="1300" dirty="0"/>
          </a:p>
        </p:txBody>
      </p:sp>
      <p:sp>
        <p:nvSpPr>
          <p:cNvPr id="15" name="Shape 13"/>
          <p:cNvSpPr/>
          <p:nvPr/>
        </p:nvSpPr>
        <p:spPr>
          <a:xfrm>
            <a:off x="566928" y="4956048"/>
            <a:ext cx="310896" cy="310896"/>
          </a:xfrm>
          <a:prstGeom prst="ellipse">
            <a:avLst/>
          </a:prstGeom>
          <a:solidFill>
            <a:srgbClr val="2A6F97"/>
          </a:solidFill>
          <a:ln/>
        </p:spPr>
        <p:txBody>
          <a:bodyPr/>
          <a:lstStyle/>
          <a:p>
            <a:endParaRPr lang="en-US"/>
          </a:p>
        </p:txBody>
      </p:sp>
      <p:sp>
        <p:nvSpPr>
          <p:cNvPr id="16" name="Text 14"/>
          <p:cNvSpPr/>
          <p:nvPr/>
        </p:nvSpPr>
        <p:spPr>
          <a:xfrm>
            <a:off x="566928" y="4937760"/>
            <a:ext cx="310896" cy="310896"/>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7" name="Text 15"/>
          <p:cNvSpPr/>
          <p:nvPr/>
        </p:nvSpPr>
        <p:spPr>
          <a:xfrm>
            <a:off x="1024128" y="4882896"/>
            <a:ext cx="5760720" cy="365760"/>
          </a:xfrm>
          <a:prstGeom prst="rect">
            <a:avLst/>
          </a:prstGeom>
          <a:noFill/>
          <a:ln/>
        </p:spPr>
        <p:txBody>
          <a:bodyPr wrap="square" rtlCol="0" anchor="ctr"/>
          <a:lstStyle/>
          <a:p>
            <a:pPr marL="0" indent="0">
              <a:buNone/>
            </a:pPr>
            <a:r>
              <a:rPr lang="en-US" sz="1700" b="1" dirty="0">
                <a:solidFill>
                  <a:srgbClr val="13293D"/>
                </a:solidFill>
                <a:latin typeface="Calibri" pitchFamily="34" charset="0"/>
                <a:ea typeface="Calibri" pitchFamily="34" charset="-122"/>
                <a:cs typeface="Calibri" pitchFamily="34" charset="-120"/>
              </a:rPr>
              <a:t>Manage the office</a:t>
            </a:r>
            <a:endParaRPr lang="en-US" sz="1700" dirty="0"/>
          </a:p>
        </p:txBody>
      </p:sp>
      <p:sp>
        <p:nvSpPr>
          <p:cNvPr id="18" name="Text 16"/>
          <p:cNvSpPr/>
          <p:nvPr/>
        </p:nvSpPr>
        <p:spPr>
          <a:xfrm>
            <a:off x="1024128" y="5239512"/>
            <a:ext cx="5852160" cy="640080"/>
          </a:xfrm>
          <a:prstGeom prst="rect">
            <a:avLst/>
          </a:prstGeom>
          <a:noFill/>
          <a:ln/>
        </p:spPr>
        <p:txBody>
          <a:bodyPr wrap="square" rtlCol="0" anchor="ctr"/>
          <a:lstStyle/>
          <a:p>
            <a:pPr marL="0" indent="0">
              <a:buNone/>
            </a:pPr>
            <a:r>
              <a:rPr lang="en-US" sz="1300" dirty="0">
                <a:solidFill>
                  <a:srgbClr val="5E6E7E"/>
                </a:solidFill>
                <a:latin typeface="Calibri" pitchFamily="34" charset="0"/>
                <a:ea typeface="Calibri" pitchFamily="34" charset="-122"/>
                <a:cs typeface="Calibri" pitchFamily="34" charset="-120"/>
              </a:rPr>
              <a:t>Add agents and keep buyer / seller records — no SQL knowledge needed.</a:t>
            </a:r>
            <a:endParaRPr lang="en-US" sz="1300" dirty="0"/>
          </a:p>
        </p:txBody>
      </p:sp>
      <p:sp>
        <p:nvSpPr>
          <p:cNvPr id="19" name="Shape 17"/>
          <p:cNvSpPr/>
          <p:nvPr/>
        </p:nvSpPr>
        <p:spPr>
          <a:xfrm>
            <a:off x="7452360" y="1371600"/>
            <a:ext cx="4160520" cy="1371600"/>
          </a:xfrm>
          <a:prstGeom prst="roundRect">
            <a:avLst>
              <a:gd name="adj" fmla="val 5333"/>
            </a:avLst>
          </a:prstGeom>
          <a:solidFill>
            <a:srgbClr val="FFFFFF"/>
          </a:solidFill>
          <a:ln w="12700">
            <a:solidFill>
              <a:srgbClr val="E0E7EE"/>
            </a:solidFill>
            <a:prstDash val="solid"/>
          </a:ln>
          <a:effectLst>
            <a:outerShdw blurRad="88900" dist="25400" dir="5400000" algn="bl" rotWithShape="0">
              <a:srgbClr val="9FB0BF">
                <a:alpha val="25000"/>
              </a:srgbClr>
            </a:outerShdw>
          </a:effectLst>
        </p:spPr>
        <p:txBody>
          <a:bodyPr/>
          <a:lstStyle/>
          <a:p>
            <a:endParaRPr lang="en-US"/>
          </a:p>
        </p:txBody>
      </p:sp>
      <p:sp>
        <p:nvSpPr>
          <p:cNvPr id="20" name="Shape 18"/>
          <p:cNvSpPr/>
          <p:nvPr/>
        </p:nvSpPr>
        <p:spPr>
          <a:xfrm>
            <a:off x="7452360" y="1371600"/>
            <a:ext cx="146304" cy="1371600"/>
          </a:xfrm>
          <a:prstGeom prst="roundRect">
            <a:avLst>
              <a:gd name="adj" fmla="val 12500"/>
            </a:avLst>
          </a:prstGeom>
          <a:solidFill>
            <a:srgbClr val="2C5F4F"/>
          </a:solidFill>
          <a:ln/>
        </p:spPr>
        <p:txBody>
          <a:bodyPr/>
          <a:lstStyle/>
          <a:p>
            <a:endParaRPr lang="en-US"/>
          </a:p>
        </p:txBody>
      </p:sp>
      <p:sp>
        <p:nvSpPr>
          <p:cNvPr id="21" name="Text 19"/>
          <p:cNvSpPr/>
          <p:nvPr/>
        </p:nvSpPr>
        <p:spPr>
          <a:xfrm>
            <a:off x="7772400" y="1481328"/>
            <a:ext cx="3657600" cy="822960"/>
          </a:xfrm>
          <a:prstGeom prst="rect">
            <a:avLst/>
          </a:prstGeom>
          <a:noFill/>
          <a:ln/>
        </p:spPr>
        <p:txBody>
          <a:bodyPr wrap="square" rtlCol="0" anchor="ctr"/>
          <a:lstStyle/>
          <a:p>
            <a:pPr marL="0" indent="0" algn="l">
              <a:buNone/>
            </a:pPr>
            <a:r>
              <a:rPr lang="en-US" sz="4400" b="1" dirty="0">
                <a:solidFill>
                  <a:srgbClr val="2C5F4F"/>
                </a:solidFill>
                <a:latin typeface="Cambria" pitchFamily="34" charset="0"/>
                <a:ea typeface="Cambria" pitchFamily="34" charset="-122"/>
                <a:cs typeface="Cambria" pitchFamily="34" charset="-120"/>
              </a:rPr>
              <a:t>5</a:t>
            </a:r>
            <a:endParaRPr lang="en-US" sz="4400" dirty="0"/>
          </a:p>
        </p:txBody>
      </p:sp>
      <p:sp>
        <p:nvSpPr>
          <p:cNvPr id="22" name="Text 20"/>
          <p:cNvSpPr/>
          <p:nvPr/>
        </p:nvSpPr>
        <p:spPr>
          <a:xfrm>
            <a:off x="7818120" y="2286000"/>
            <a:ext cx="3657600" cy="365760"/>
          </a:xfrm>
          <a:prstGeom prst="rect">
            <a:avLst/>
          </a:prstGeom>
          <a:noFill/>
          <a:ln/>
        </p:spPr>
        <p:txBody>
          <a:bodyPr wrap="square" rtlCol="0" anchor="ctr"/>
          <a:lstStyle/>
          <a:p>
            <a:pPr marL="0" indent="0">
              <a:buNone/>
            </a:pPr>
            <a:r>
              <a:rPr lang="en-US" sz="1400" dirty="0">
                <a:solidFill>
                  <a:srgbClr val="5E6E7E"/>
                </a:solidFill>
                <a:latin typeface="Calibri" pitchFamily="34" charset="0"/>
                <a:ea typeface="Calibri" pitchFamily="34" charset="-122"/>
                <a:cs typeface="Calibri" pitchFamily="34" charset="-120"/>
              </a:rPr>
              <a:t>relations</a:t>
            </a:r>
            <a:endParaRPr lang="en-US" sz="1400" dirty="0"/>
          </a:p>
        </p:txBody>
      </p:sp>
      <p:sp>
        <p:nvSpPr>
          <p:cNvPr id="23" name="Shape 21"/>
          <p:cNvSpPr/>
          <p:nvPr/>
        </p:nvSpPr>
        <p:spPr>
          <a:xfrm>
            <a:off x="7452360" y="2944368"/>
            <a:ext cx="4160520" cy="1371600"/>
          </a:xfrm>
          <a:prstGeom prst="roundRect">
            <a:avLst>
              <a:gd name="adj" fmla="val 5333"/>
            </a:avLst>
          </a:prstGeom>
          <a:solidFill>
            <a:srgbClr val="FFFFFF"/>
          </a:solidFill>
          <a:ln w="12700">
            <a:solidFill>
              <a:srgbClr val="E0E7EE"/>
            </a:solidFill>
            <a:prstDash val="solid"/>
          </a:ln>
          <a:effectLst>
            <a:outerShdw blurRad="88900" dist="25400" dir="5400000" algn="bl" rotWithShape="0">
              <a:srgbClr val="9FB0BF">
                <a:alpha val="25000"/>
              </a:srgbClr>
            </a:outerShdw>
          </a:effectLst>
        </p:spPr>
        <p:txBody>
          <a:bodyPr/>
          <a:lstStyle/>
          <a:p>
            <a:endParaRPr lang="en-US" dirty="0"/>
          </a:p>
        </p:txBody>
      </p:sp>
      <p:sp>
        <p:nvSpPr>
          <p:cNvPr id="24" name="Shape 22"/>
          <p:cNvSpPr/>
          <p:nvPr/>
        </p:nvSpPr>
        <p:spPr>
          <a:xfrm>
            <a:off x="7452360" y="2944368"/>
            <a:ext cx="146304" cy="1371600"/>
          </a:xfrm>
          <a:prstGeom prst="roundRect">
            <a:avLst>
              <a:gd name="adj" fmla="val 12500"/>
            </a:avLst>
          </a:prstGeom>
          <a:solidFill>
            <a:srgbClr val="4B3F72"/>
          </a:solidFill>
          <a:ln/>
        </p:spPr>
        <p:txBody>
          <a:bodyPr/>
          <a:lstStyle/>
          <a:p>
            <a:endParaRPr lang="en-US"/>
          </a:p>
        </p:txBody>
      </p:sp>
      <p:sp>
        <p:nvSpPr>
          <p:cNvPr id="25" name="Text 23"/>
          <p:cNvSpPr/>
          <p:nvPr/>
        </p:nvSpPr>
        <p:spPr>
          <a:xfrm>
            <a:off x="7772400" y="3054096"/>
            <a:ext cx="3657600" cy="822960"/>
          </a:xfrm>
          <a:prstGeom prst="rect">
            <a:avLst/>
          </a:prstGeom>
          <a:noFill/>
          <a:ln/>
        </p:spPr>
        <p:txBody>
          <a:bodyPr wrap="square" rtlCol="0" anchor="ctr"/>
          <a:lstStyle/>
          <a:p>
            <a:pPr marL="0" indent="0" algn="l">
              <a:buNone/>
            </a:pPr>
            <a:r>
              <a:rPr lang="en-US" sz="4400" b="1" dirty="0">
                <a:solidFill>
                  <a:srgbClr val="4B3F72"/>
                </a:solidFill>
                <a:latin typeface="Cambria" pitchFamily="34" charset="0"/>
                <a:ea typeface="Cambria" pitchFamily="34" charset="-122"/>
                <a:cs typeface="Cambria" pitchFamily="34" charset="-120"/>
              </a:rPr>
              <a:t>7</a:t>
            </a:r>
            <a:endParaRPr lang="en-US" sz="4400" dirty="0"/>
          </a:p>
        </p:txBody>
      </p:sp>
      <p:sp>
        <p:nvSpPr>
          <p:cNvPr id="26" name="Text 24"/>
          <p:cNvSpPr/>
          <p:nvPr/>
        </p:nvSpPr>
        <p:spPr>
          <a:xfrm>
            <a:off x="7818120" y="3858768"/>
            <a:ext cx="3657600" cy="365760"/>
          </a:xfrm>
          <a:prstGeom prst="rect">
            <a:avLst/>
          </a:prstGeom>
          <a:noFill/>
          <a:ln/>
        </p:spPr>
        <p:txBody>
          <a:bodyPr wrap="square" rtlCol="0" anchor="ctr"/>
          <a:lstStyle/>
          <a:p>
            <a:pPr marL="0" indent="0">
              <a:buNone/>
            </a:pPr>
            <a:r>
              <a:rPr lang="en-US" sz="1400" dirty="0">
                <a:solidFill>
                  <a:srgbClr val="5E6E7E"/>
                </a:solidFill>
                <a:latin typeface="Calibri" pitchFamily="34" charset="0"/>
                <a:ea typeface="Calibri" pitchFamily="34" charset="-122"/>
                <a:cs typeface="Calibri" pitchFamily="34" charset="-120"/>
              </a:rPr>
              <a:t>recorded queries</a:t>
            </a:r>
            <a:endParaRPr lang="en-US" sz="1400" dirty="0"/>
          </a:p>
        </p:txBody>
      </p:sp>
      <p:sp>
        <p:nvSpPr>
          <p:cNvPr id="27" name="Shape 25"/>
          <p:cNvSpPr/>
          <p:nvPr/>
        </p:nvSpPr>
        <p:spPr>
          <a:xfrm>
            <a:off x="7452360" y="4517136"/>
            <a:ext cx="4160520" cy="1371600"/>
          </a:xfrm>
          <a:prstGeom prst="roundRect">
            <a:avLst>
              <a:gd name="adj" fmla="val 5333"/>
            </a:avLst>
          </a:prstGeom>
          <a:solidFill>
            <a:srgbClr val="FFFFFF"/>
          </a:solidFill>
          <a:ln w="12700">
            <a:solidFill>
              <a:srgbClr val="E0E7EE"/>
            </a:solidFill>
            <a:prstDash val="solid"/>
          </a:ln>
          <a:effectLst>
            <a:outerShdw blurRad="88900" dist="25400" dir="5400000" algn="bl" rotWithShape="0">
              <a:srgbClr val="9FB0BF">
                <a:alpha val="25000"/>
              </a:srgbClr>
            </a:outerShdw>
          </a:effectLst>
        </p:spPr>
        <p:txBody>
          <a:bodyPr/>
          <a:lstStyle/>
          <a:p>
            <a:endParaRPr lang="en-US"/>
          </a:p>
        </p:txBody>
      </p:sp>
      <p:sp>
        <p:nvSpPr>
          <p:cNvPr id="28" name="Shape 26"/>
          <p:cNvSpPr/>
          <p:nvPr/>
        </p:nvSpPr>
        <p:spPr>
          <a:xfrm>
            <a:off x="7452360" y="4517136"/>
            <a:ext cx="146304" cy="1371600"/>
          </a:xfrm>
          <a:prstGeom prst="roundRect">
            <a:avLst>
              <a:gd name="adj" fmla="val 12500"/>
            </a:avLst>
          </a:prstGeom>
          <a:solidFill>
            <a:srgbClr val="7A2E2E"/>
          </a:solidFill>
          <a:ln/>
        </p:spPr>
        <p:txBody>
          <a:bodyPr/>
          <a:lstStyle/>
          <a:p>
            <a:endParaRPr lang="en-US"/>
          </a:p>
        </p:txBody>
      </p:sp>
      <p:sp>
        <p:nvSpPr>
          <p:cNvPr id="29" name="Text 27"/>
          <p:cNvSpPr/>
          <p:nvPr/>
        </p:nvSpPr>
        <p:spPr>
          <a:xfrm>
            <a:off x="7772400" y="4626864"/>
            <a:ext cx="3657600" cy="822960"/>
          </a:xfrm>
          <a:prstGeom prst="rect">
            <a:avLst/>
          </a:prstGeom>
          <a:noFill/>
          <a:ln/>
        </p:spPr>
        <p:txBody>
          <a:bodyPr wrap="square" rtlCol="0" anchor="ctr"/>
          <a:lstStyle/>
          <a:p>
            <a:pPr marL="0" indent="0" algn="l">
              <a:buNone/>
            </a:pPr>
            <a:r>
              <a:rPr lang="en-US" sz="4400" b="1" dirty="0">
                <a:solidFill>
                  <a:srgbClr val="7A2E2E"/>
                </a:solidFill>
                <a:latin typeface="Cambria" pitchFamily="34" charset="0"/>
                <a:ea typeface="Cambria" pitchFamily="34" charset="-122"/>
                <a:cs typeface="Cambria" pitchFamily="34" charset="-120"/>
              </a:rPr>
              <a:t>11 / 5</a:t>
            </a:r>
            <a:endParaRPr lang="en-US" sz="4400" dirty="0"/>
          </a:p>
        </p:txBody>
      </p:sp>
      <p:sp>
        <p:nvSpPr>
          <p:cNvPr id="30" name="Text 28"/>
          <p:cNvSpPr/>
          <p:nvPr/>
        </p:nvSpPr>
        <p:spPr>
          <a:xfrm>
            <a:off x="7818120" y="5431536"/>
            <a:ext cx="3657600" cy="365760"/>
          </a:xfrm>
          <a:prstGeom prst="rect">
            <a:avLst/>
          </a:prstGeom>
          <a:noFill/>
          <a:ln/>
        </p:spPr>
        <p:txBody>
          <a:bodyPr wrap="square" rtlCol="0" anchor="ctr"/>
          <a:lstStyle/>
          <a:p>
            <a:pPr marL="0" indent="0">
              <a:buNone/>
            </a:pPr>
            <a:r>
              <a:rPr lang="en-US" sz="1400" dirty="0">
                <a:solidFill>
                  <a:srgbClr val="5E6E7E"/>
                </a:solidFill>
                <a:latin typeface="Calibri" pitchFamily="34" charset="0"/>
                <a:ea typeface="Calibri" pitchFamily="34" charset="-122"/>
                <a:cs typeface="Calibri" pitchFamily="34" charset="-120"/>
              </a:rPr>
              <a:t>properties / sales seeded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rtlCol="0" anchor="ctr"/>
          <a:lstStyle/>
          <a:p>
            <a:pPr marL="0" indent="0">
              <a:buNone/>
            </a:pPr>
            <a:r>
              <a:rPr lang="en-US" sz="3200" b="1" dirty="0">
                <a:solidFill>
                  <a:srgbClr val="13293D"/>
                </a:solidFill>
                <a:latin typeface="Cambria" pitchFamily="34" charset="0"/>
                <a:ea typeface="Cambria" pitchFamily="34" charset="-122"/>
                <a:cs typeface="Cambria" pitchFamily="34" charset="-120"/>
              </a:rPr>
              <a:t>Architecture</a:t>
            </a:r>
            <a:endParaRPr lang="en-US" sz="3200" dirty="0"/>
          </a:p>
        </p:txBody>
      </p:sp>
      <p:sp>
        <p:nvSpPr>
          <p:cNvPr id="3" name="Text 1"/>
          <p:cNvSpPr/>
          <p:nvPr/>
        </p:nvSpPr>
        <p:spPr>
          <a:xfrm>
            <a:off x="566928" y="1024128"/>
            <a:ext cx="10515600" cy="365760"/>
          </a:xfrm>
          <a:prstGeom prst="rect">
            <a:avLst/>
          </a:prstGeom>
          <a:noFill/>
          <a:ln/>
        </p:spPr>
        <p:txBody>
          <a:bodyPr wrap="square" rtlCol="0" anchor="ctr"/>
          <a:lstStyle/>
          <a:p>
            <a:pPr marL="0" indent="0">
              <a:buNone/>
            </a:pPr>
            <a:r>
              <a:rPr lang="en-US" sz="1450" i="1" dirty="0">
                <a:solidFill>
                  <a:srgbClr val="2A6F97"/>
                </a:solidFill>
                <a:latin typeface="Calibri" pitchFamily="34" charset="0"/>
                <a:ea typeface="Calibri" pitchFamily="34" charset="-122"/>
                <a:cs typeface="Calibri" pitchFamily="34" charset="-120"/>
              </a:rPr>
              <a:t>Split into 2 files.</a:t>
            </a:r>
            <a:endParaRPr lang="en-US" sz="1450" dirty="0"/>
          </a:p>
        </p:txBody>
      </p:sp>
      <p:sp>
        <p:nvSpPr>
          <p:cNvPr id="4" name="Shape 2"/>
          <p:cNvSpPr/>
          <p:nvPr/>
        </p:nvSpPr>
        <p:spPr>
          <a:xfrm>
            <a:off x="640080" y="1600200"/>
            <a:ext cx="6035040" cy="932688"/>
          </a:xfrm>
          <a:prstGeom prst="roundRect">
            <a:avLst>
              <a:gd name="adj" fmla="val 6863"/>
            </a:avLst>
          </a:prstGeom>
          <a:solidFill>
            <a:srgbClr val="2A6F97"/>
          </a:solidFill>
          <a:ln/>
          <a:effectLst>
            <a:outerShdw blurRad="76200" dist="25400" dir="5400000" algn="bl" rotWithShape="0">
              <a:srgbClr val="8A9BAC">
                <a:alpha val="30000"/>
              </a:srgbClr>
            </a:outerShdw>
          </a:effectLst>
        </p:spPr>
        <p:txBody>
          <a:bodyPr/>
          <a:lstStyle/>
          <a:p>
            <a:endParaRPr lang="en-US"/>
          </a:p>
        </p:txBody>
      </p:sp>
      <p:sp>
        <p:nvSpPr>
          <p:cNvPr id="5" name="Text 3"/>
          <p:cNvSpPr/>
          <p:nvPr/>
        </p:nvSpPr>
        <p:spPr>
          <a:xfrm>
            <a:off x="868680" y="1709928"/>
            <a:ext cx="5577840" cy="36576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app.py</a:t>
            </a:r>
            <a:endParaRPr lang="en-US" sz="1600" dirty="0"/>
          </a:p>
        </p:txBody>
      </p:sp>
      <p:sp>
        <p:nvSpPr>
          <p:cNvPr id="6" name="Text 4"/>
          <p:cNvSpPr/>
          <p:nvPr/>
        </p:nvSpPr>
        <p:spPr>
          <a:xfrm>
            <a:off x="868680" y="2103120"/>
            <a:ext cx="5623560" cy="365760"/>
          </a:xfrm>
          <a:prstGeom prst="rect">
            <a:avLst/>
          </a:prstGeom>
          <a:noFill/>
          <a:ln/>
        </p:spPr>
        <p:txBody>
          <a:bodyPr wrap="square" rtlCol="0" anchor="ctr"/>
          <a:lstStyle/>
          <a:p>
            <a:pPr marL="0" indent="0">
              <a:buNone/>
            </a:pPr>
            <a:r>
              <a:rPr lang="en-US" sz="1200" dirty="0" err="1">
                <a:solidFill>
                  <a:srgbClr val="E6EEF4"/>
                </a:solidFill>
                <a:latin typeface="Calibri" pitchFamily="34" charset="0"/>
                <a:ea typeface="Calibri" pitchFamily="34" charset="-122"/>
                <a:cs typeface="Calibri" pitchFamily="34" charset="-120"/>
              </a:rPr>
              <a:t>Tkinter</a:t>
            </a:r>
            <a:r>
              <a:rPr lang="en-US" sz="1200" dirty="0">
                <a:solidFill>
                  <a:srgbClr val="E6EEF4"/>
                </a:solidFill>
                <a:latin typeface="Calibri" pitchFamily="34" charset="0"/>
                <a:ea typeface="Calibri" pitchFamily="34" charset="-122"/>
                <a:cs typeface="Calibri" pitchFamily="34" charset="-120"/>
              </a:rPr>
              <a:t> GUI</a:t>
            </a:r>
            <a:endParaRPr lang="en-US" sz="1200" dirty="0"/>
          </a:p>
        </p:txBody>
      </p:sp>
      <p:sp>
        <p:nvSpPr>
          <p:cNvPr id="7" name="Text 5"/>
          <p:cNvSpPr/>
          <p:nvPr/>
        </p:nvSpPr>
        <p:spPr>
          <a:xfrm>
            <a:off x="3383280" y="2514600"/>
            <a:ext cx="548640" cy="256032"/>
          </a:xfrm>
          <a:prstGeom prst="rect">
            <a:avLst/>
          </a:prstGeom>
          <a:noFill/>
          <a:ln/>
        </p:spPr>
        <p:txBody>
          <a:bodyPr wrap="square" rtlCol="0" anchor="ctr"/>
          <a:lstStyle/>
          <a:p>
            <a:pPr marL="0" indent="0" algn="ctr">
              <a:buNone/>
            </a:pPr>
            <a:r>
              <a:rPr lang="en-US" sz="1400" dirty="0">
                <a:solidFill>
                  <a:srgbClr val="C9902F"/>
                </a:solidFill>
                <a:latin typeface="Calibri" pitchFamily="34" charset="0"/>
                <a:ea typeface="Calibri" pitchFamily="34" charset="-122"/>
                <a:cs typeface="Calibri" pitchFamily="34" charset="-120"/>
              </a:rPr>
              <a:t>▼</a:t>
            </a:r>
            <a:endParaRPr lang="en-US" sz="1400" dirty="0"/>
          </a:p>
        </p:txBody>
      </p:sp>
      <p:sp>
        <p:nvSpPr>
          <p:cNvPr id="8" name="Shape 6"/>
          <p:cNvSpPr/>
          <p:nvPr/>
        </p:nvSpPr>
        <p:spPr>
          <a:xfrm>
            <a:off x="640080" y="2825496"/>
            <a:ext cx="6035040" cy="932688"/>
          </a:xfrm>
          <a:prstGeom prst="roundRect">
            <a:avLst>
              <a:gd name="adj" fmla="val 6863"/>
            </a:avLst>
          </a:prstGeom>
          <a:solidFill>
            <a:srgbClr val="13293D"/>
          </a:solidFill>
          <a:ln/>
          <a:effectLst>
            <a:outerShdw blurRad="76200" dist="25400" dir="5400000" algn="bl" rotWithShape="0">
              <a:srgbClr val="8A9BAC">
                <a:alpha val="30000"/>
              </a:srgbClr>
            </a:outerShdw>
          </a:effectLst>
        </p:spPr>
        <p:txBody>
          <a:bodyPr/>
          <a:lstStyle/>
          <a:p>
            <a:endParaRPr lang="en-US"/>
          </a:p>
        </p:txBody>
      </p:sp>
      <p:sp>
        <p:nvSpPr>
          <p:cNvPr id="9" name="Text 7"/>
          <p:cNvSpPr/>
          <p:nvPr/>
        </p:nvSpPr>
        <p:spPr>
          <a:xfrm>
            <a:off x="868680" y="2935224"/>
            <a:ext cx="5577840" cy="36576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db.py</a:t>
            </a:r>
            <a:endParaRPr lang="en-US" sz="1600" dirty="0"/>
          </a:p>
        </p:txBody>
      </p:sp>
      <p:sp>
        <p:nvSpPr>
          <p:cNvPr id="10" name="Text 8"/>
          <p:cNvSpPr/>
          <p:nvPr/>
        </p:nvSpPr>
        <p:spPr>
          <a:xfrm>
            <a:off x="868680" y="3328416"/>
            <a:ext cx="5623560" cy="365760"/>
          </a:xfrm>
          <a:prstGeom prst="rect">
            <a:avLst/>
          </a:prstGeom>
          <a:noFill/>
          <a:ln/>
        </p:spPr>
        <p:txBody>
          <a:bodyPr wrap="square" rtlCol="0" anchor="ctr"/>
          <a:lstStyle/>
          <a:p>
            <a:pPr marL="0" indent="0">
              <a:buNone/>
            </a:pPr>
            <a:r>
              <a:rPr lang="en-US" sz="1200" dirty="0">
                <a:solidFill>
                  <a:srgbClr val="E6EEF4"/>
                </a:solidFill>
                <a:latin typeface="Calibri" pitchFamily="34" charset="0"/>
                <a:ea typeface="Calibri" pitchFamily="34" charset="-122"/>
                <a:cs typeface="Calibri" pitchFamily="34" charset="-120"/>
              </a:rPr>
              <a:t>Data layer</a:t>
            </a:r>
            <a:endParaRPr lang="en-US" sz="1200" dirty="0"/>
          </a:p>
        </p:txBody>
      </p:sp>
      <p:sp>
        <p:nvSpPr>
          <p:cNvPr id="11" name="Text 9"/>
          <p:cNvSpPr/>
          <p:nvPr/>
        </p:nvSpPr>
        <p:spPr>
          <a:xfrm>
            <a:off x="3383280" y="3739896"/>
            <a:ext cx="548640" cy="256032"/>
          </a:xfrm>
          <a:prstGeom prst="rect">
            <a:avLst/>
          </a:prstGeom>
          <a:noFill/>
          <a:ln/>
        </p:spPr>
        <p:txBody>
          <a:bodyPr wrap="square" rtlCol="0" anchor="ctr"/>
          <a:lstStyle/>
          <a:p>
            <a:pPr marL="0" indent="0" algn="ctr">
              <a:buNone/>
            </a:pPr>
            <a:r>
              <a:rPr lang="en-US" sz="1400" dirty="0">
                <a:solidFill>
                  <a:srgbClr val="C9902F"/>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640080" y="4050792"/>
            <a:ext cx="6035040" cy="932688"/>
          </a:xfrm>
          <a:prstGeom prst="roundRect">
            <a:avLst>
              <a:gd name="adj" fmla="val 6863"/>
            </a:avLst>
          </a:prstGeom>
          <a:solidFill>
            <a:srgbClr val="2C5F4F"/>
          </a:solidFill>
          <a:ln/>
          <a:effectLst>
            <a:outerShdw blurRad="76200" dist="25400" dir="5400000" algn="bl" rotWithShape="0">
              <a:srgbClr val="8A9BAC">
                <a:alpha val="30000"/>
              </a:srgbClr>
            </a:outerShdw>
          </a:effectLst>
        </p:spPr>
        <p:txBody>
          <a:bodyPr/>
          <a:lstStyle/>
          <a:p>
            <a:endParaRPr lang="en-US"/>
          </a:p>
        </p:txBody>
      </p:sp>
      <p:sp>
        <p:nvSpPr>
          <p:cNvPr id="13" name="Text 11"/>
          <p:cNvSpPr/>
          <p:nvPr/>
        </p:nvSpPr>
        <p:spPr>
          <a:xfrm>
            <a:off x="868680" y="4160520"/>
            <a:ext cx="5577840" cy="36576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schema.sql  +  seed.py</a:t>
            </a:r>
            <a:endParaRPr lang="en-US" sz="1600" dirty="0"/>
          </a:p>
        </p:txBody>
      </p:sp>
      <p:sp>
        <p:nvSpPr>
          <p:cNvPr id="14" name="Text 12"/>
          <p:cNvSpPr/>
          <p:nvPr/>
        </p:nvSpPr>
        <p:spPr>
          <a:xfrm>
            <a:off x="868680" y="4553712"/>
            <a:ext cx="5623560" cy="365760"/>
          </a:xfrm>
          <a:prstGeom prst="rect">
            <a:avLst/>
          </a:prstGeom>
          <a:noFill/>
          <a:ln/>
        </p:spPr>
        <p:txBody>
          <a:bodyPr wrap="square" rtlCol="0" anchor="ctr"/>
          <a:lstStyle/>
          <a:p>
            <a:pPr marL="0" indent="0">
              <a:buNone/>
            </a:pPr>
            <a:r>
              <a:rPr lang="en-US" sz="1200" dirty="0">
                <a:solidFill>
                  <a:srgbClr val="E6EEF4"/>
                </a:solidFill>
                <a:latin typeface="Calibri" pitchFamily="34" charset="0"/>
                <a:ea typeface="Calibri" pitchFamily="34" charset="-122"/>
                <a:cs typeface="Calibri" pitchFamily="34" charset="-120"/>
              </a:rPr>
              <a:t>Schema definition and synthetic sample data (with photos generated using IO)</a:t>
            </a:r>
            <a:endParaRPr lang="en-US" sz="1200" dirty="0"/>
          </a:p>
        </p:txBody>
      </p:sp>
      <p:sp>
        <p:nvSpPr>
          <p:cNvPr id="15" name="Text 13"/>
          <p:cNvSpPr/>
          <p:nvPr/>
        </p:nvSpPr>
        <p:spPr>
          <a:xfrm>
            <a:off x="3383280" y="4965192"/>
            <a:ext cx="548640" cy="256032"/>
          </a:xfrm>
          <a:prstGeom prst="rect">
            <a:avLst/>
          </a:prstGeom>
          <a:noFill/>
          <a:ln/>
        </p:spPr>
        <p:txBody>
          <a:bodyPr wrap="square" rtlCol="0" anchor="ctr"/>
          <a:lstStyle/>
          <a:p>
            <a:pPr marL="0" indent="0" algn="ctr">
              <a:buNone/>
            </a:pPr>
            <a:r>
              <a:rPr lang="en-US" sz="1400" dirty="0">
                <a:solidFill>
                  <a:srgbClr val="C9902F"/>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640080" y="5276088"/>
            <a:ext cx="6035040" cy="932688"/>
          </a:xfrm>
          <a:prstGeom prst="roundRect">
            <a:avLst>
              <a:gd name="adj" fmla="val 6863"/>
            </a:avLst>
          </a:prstGeom>
          <a:solidFill>
            <a:srgbClr val="7A2E2E"/>
          </a:solidFill>
          <a:ln/>
          <a:effectLst>
            <a:outerShdw blurRad="76200" dist="25400" dir="5400000" algn="bl" rotWithShape="0">
              <a:srgbClr val="8A9BAC">
                <a:alpha val="30000"/>
              </a:srgbClr>
            </a:outerShdw>
          </a:effectLst>
        </p:spPr>
        <p:txBody>
          <a:bodyPr/>
          <a:lstStyle/>
          <a:p>
            <a:endParaRPr lang="en-US"/>
          </a:p>
        </p:txBody>
      </p:sp>
      <p:sp>
        <p:nvSpPr>
          <p:cNvPr id="17" name="Text 15"/>
          <p:cNvSpPr/>
          <p:nvPr/>
        </p:nvSpPr>
        <p:spPr>
          <a:xfrm>
            <a:off x="868680" y="5385816"/>
            <a:ext cx="5577840" cy="36576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realestate.db</a:t>
            </a:r>
            <a:endParaRPr lang="en-US" sz="1600" dirty="0"/>
          </a:p>
        </p:txBody>
      </p:sp>
      <p:sp>
        <p:nvSpPr>
          <p:cNvPr id="18" name="Text 16"/>
          <p:cNvSpPr/>
          <p:nvPr/>
        </p:nvSpPr>
        <p:spPr>
          <a:xfrm>
            <a:off x="868680" y="5779008"/>
            <a:ext cx="5623560" cy="365760"/>
          </a:xfrm>
          <a:prstGeom prst="rect">
            <a:avLst/>
          </a:prstGeom>
          <a:noFill/>
          <a:ln/>
        </p:spPr>
        <p:txBody>
          <a:bodyPr wrap="square" rtlCol="0" anchor="ctr"/>
          <a:lstStyle/>
          <a:p>
            <a:pPr marL="0" indent="0">
              <a:buNone/>
            </a:pPr>
            <a:r>
              <a:rPr lang="en-US" sz="1200" dirty="0">
                <a:solidFill>
                  <a:srgbClr val="E6EEF4"/>
                </a:solidFill>
                <a:latin typeface="Calibri" pitchFamily="34" charset="0"/>
                <a:ea typeface="Calibri" pitchFamily="34" charset="-122"/>
                <a:cs typeface="Calibri" pitchFamily="34" charset="-120"/>
              </a:rPr>
              <a:t>The SQLite database file</a:t>
            </a:r>
            <a:endParaRPr lang="en-US" sz="1200" dirty="0"/>
          </a:p>
        </p:txBody>
      </p:sp>
      <p:sp>
        <p:nvSpPr>
          <p:cNvPr id="19" name="Shape 17"/>
          <p:cNvSpPr/>
          <p:nvPr/>
        </p:nvSpPr>
        <p:spPr>
          <a:xfrm>
            <a:off x="7040880" y="1600200"/>
            <a:ext cx="4617720" cy="2286000"/>
          </a:xfrm>
          <a:prstGeom prst="roundRect">
            <a:avLst>
              <a:gd name="adj" fmla="val 2400"/>
            </a:avLst>
          </a:prstGeom>
          <a:solidFill>
            <a:srgbClr val="0E2233"/>
          </a:solidFill>
          <a:ln w="12700">
            <a:solidFill>
              <a:srgbClr val="13293D"/>
            </a:solidFill>
            <a:prstDash val="solid"/>
          </a:ln>
          <a:effectLst>
            <a:outerShdw blurRad="88900" dist="25400" dir="5400000" algn="bl" rotWithShape="0">
              <a:srgbClr val="26506E">
                <a:alpha val="30000"/>
              </a:srgbClr>
            </a:outerShdw>
          </a:effectLst>
        </p:spPr>
        <p:txBody>
          <a:bodyPr/>
          <a:lstStyle/>
          <a:p>
            <a:endParaRPr lang="en-US"/>
          </a:p>
        </p:txBody>
      </p:sp>
      <p:sp>
        <p:nvSpPr>
          <p:cNvPr id="20" name="Text 18"/>
          <p:cNvSpPr/>
          <p:nvPr/>
        </p:nvSpPr>
        <p:spPr>
          <a:xfrm>
            <a:off x="7242048" y="1709928"/>
            <a:ext cx="4251960" cy="274320"/>
          </a:xfrm>
          <a:prstGeom prst="rect">
            <a:avLst/>
          </a:prstGeom>
          <a:noFill/>
          <a:ln/>
        </p:spPr>
        <p:txBody>
          <a:bodyPr wrap="square" rtlCol="0" anchor="ctr"/>
          <a:lstStyle/>
          <a:p>
            <a:pPr marL="0" indent="0" algn="l">
              <a:buNone/>
            </a:pPr>
            <a:r>
              <a:rPr lang="en-US" sz="1100" b="1" dirty="0">
                <a:solidFill>
                  <a:srgbClr val="E9C46A"/>
                </a:solidFill>
                <a:latin typeface="Courier New" pitchFamily="34" charset="0"/>
                <a:ea typeface="Courier New" pitchFamily="34" charset="-122"/>
                <a:cs typeface="Courier New" pitchFamily="34" charset="-120"/>
              </a:rPr>
              <a:t>app.py  →  calls db.py</a:t>
            </a:r>
            <a:endParaRPr lang="en-US" sz="1100" dirty="0"/>
          </a:p>
        </p:txBody>
      </p:sp>
      <p:sp>
        <p:nvSpPr>
          <p:cNvPr id="21" name="Text 19"/>
          <p:cNvSpPr/>
          <p:nvPr/>
        </p:nvSpPr>
        <p:spPr>
          <a:xfrm>
            <a:off x="7242048" y="2057400"/>
            <a:ext cx="4215384" cy="1691640"/>
          </a:xfrm>
          <a:prstGeom prst="rect">
            <a:avLst/>
          </a:prstGeom>
          <a:noFill/>
          <a:ln/>
        </p:spPr>
        <p:txBody>
          <a:bodyPr wrap="square" lIns="0" tIns="0" rIns="0" bIns="0" rtlCol="0" anchor="t"/>
          <a:lstStyle/>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rows = db.search_properties(</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conn, city="Bethlehem",</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min_price=200000,</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max_price=250000,</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status="for_sale")</a:t>
            </a:r>
            <a:endParaRPr lang="en-US" sz="1150" dirty="0"/>
          </a:p>
          <a:p>
            <a:pPr marL="0" indent="0" algn="l">
              <a:lnSpc>
                <a:spcPct val="106000"/>
              </a:lnSpc>
              <a:buNone/>
            </a:pP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the GUI never writes SQL itself</a:t>
            </a:r>
            <a:endParaRPr lang="en-US" sz="1150" dirty="0"/>
          </a:p>
        </p:txBody>
      </p:sp>
      <p:sp>
        <p:nvSpPr>
          <p:cNvPr id="24" name="Text 22"/>
          <p:cNvSpPr/>
          <p:nvPr/>
        </p:nvSpPr>
        <p:spPr>
          <a:xfrm>
            <a:off x="7136892" y="4032270"/>
            <a:ext cx="4197096" cy="1783080"/>
          </a:xfrm>
          <a:prstGeom prst="rect">
            <a:avLst/>
          </a:prstGeom>
          <a:noFill/>
          <a:ln/>
        </p:spPr>
        <p:txBody>
          <a:bodyPr wrap="square" lIns="0" tIns="0" rIns="0" bIns="0" rtlCol="0" anchor="t"/>
          <a:lstStyle/>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SQL is reviewable in one place </a:t>
            </a:r>
          </a:p>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The GUI just calls named functions like </a:t>
            </a:r>
            <a:r>
              <a:rPr lang="en-US" sz="1250" dirty="0" err="1">
                <a:solidFill>
                  <a:srgbClr val="1A2333"/>
                </a:solidFill>
                <a:latin typeface="Calibri" pitchFamily="34" charset="0"/>
                <a:ea typeface="Calibri" pitchFamily="34" charset="-122"/>
                <a:cs typeface="Calibri" pitchFamily="34" charset="-120"/>
              </a:rPr>
              <a:t>record_sale</a:t>
            </a:r>
            <a:r>
              <a:rPr lang="en-US" sz="1250" dirty="0">
                <a:solidFill>
                  <a:srgbClr val="1A2333"/>
                </a:solidFill>
                <a:latin typeface="Calibri" pitchFamily="34" charset="0"/>
                <a:ea typeface="Calibri" pitchFamily="34" charset="-122"/>
                <a:cs typeface="Calibri" pitchFamily="34" charset="-120"/>
              </a:rPr>
              <a: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rtlCol="0" anchor="ctr"/>
          <a:lstStyle/>
          <a:p>
            <a:pPr marL="0" indent="0">
              <a:buNone/>
            </a:pPr>
            <a:r>
              <a:rPr lang="en-US" sz="3200" b="1" dirty="0">
                <a:solidFill>
                  <a:srgbClr val="13293D"/>
                </a:solidFill>
                <a:latin typeface="Cambria" pitchFamily="34" charset="0"/>
                <a:ea typeface="Cambria" pitchFamily="34" charset="-122"/>
                <a:cs typeface="Cambria" pitchFamily="34" charset="-120"/>
              </a:rPr>
              <a:t>The data model</a:t>
            </a:r>
            <a:endParaRPr lang="en-US" sz="3200" dirty="0"/>
          </a:p>
        </p:txBody>
      </p:sp>
      <p:sp>
        <p:nvSpPr>
          <p:cNvPr id="3" name="Text 1"/>
          <p:cNvSpPr/>
          <p:nvPr/>
        </p:nvSpPr>
        <p:spPr>
          <a:xfrm>
            <a:off x="566928" y="1024128"/>
            <a:ext cx="10515600" cy="365760"/>
          </a:xfrm>
          <a:prstGeom prst="rect">
            <a:avLst/>
          </a:prstGeom>
          <a:noFill/>
          <a:ln/>
        </p:spPr>
        <p:txBody>
          <a:bodyPr wrap="square" rtlCol="0" anchor="ctr"/>
          <a:lstStyle/>
          <a:p>
            <a:pPr marL="0" indent="0">
              <a:buNone/>
            </a:pPr>
            <a:r>
              <a:rPr lang="en-US" sz="1450" i="1" dirty="0">
                <a:solidFill>
                  <a:srgbClr val="2A6F97"/>
                </a:solidFill>
                <a:latin typeface="Calibri" pitchFamily="34" charset="0"/>
                <a:ea typeface="Calibri" pitchFamily="34" charset="-122"/>
                <a:cs typeface="Calibri" pitchFamily="34" charset="-120"/>
              </a:rPr>
              <a:t>Five relations: people, property, and the sale that connects them.</a:t>
            </a:r>
            <a:endParaRPr lang="en-US" sz="1450" dirty="0"/>
          </a:p>
        </p:txBody>
      </p:sp>
      <p:sp>
        <p:nvSpPr>
          <p:cNvPr id="4" name="Shape 2"/>
          <p:cNvSpPr/>
          <p:nvPr/>
        </p:nvSpPr>
        <p:spPr>
          <a:xfrm>
            <a:off x="640080" y="1554480"/>
            <a:ext cx="1554480" cy="914400"/>
          </a:xfrm>
          <a:prstGeom prst="roundRect">
            <a:avLst>
              <a:gd name="adj" fmla="val 7000"/>
            </a:avLst>
          </a:prstGeom>
          <a:solidFill>
            <a:srgbClr val="2C5F4F"/>
          </a:solidFill>
          <a:ln/>
          <a:effectLst>
            <a:outerShdw blurRad="63500" dist="25400" dir="5400000" algn="bl" rotWithShape="0">
              <a:srgbClr val="8A9BAC">
                <a:alpha val="30000"/>
              </a:srgbClr>
            </a:outerShdw>
          </a:effectLst>
        </p:spPr>
        <p:txBody>
          <a:bodyPr/>
          <a:lstStyle/>
          <a:p>
            <a:endParaRPr lang="en-US"/>
          </a:p>
        </p:txBody>
      </p:sp>
      <p:sp>
        <p:nvSpPr>
          <p:cNvPr id="5" name="Text 3"/>
          <p:cNvSpPr/>
          <p:nvPr/>
        </p:nvSpPr>
        <p:spPr>
          <a:xfrm>
            <a:off x="777240" y="1645920"/>
            <a:ext cx="1280160" cy="3200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agents</a:t>
            </a:r>
            <a:endParaRPr lang="en-US" sz="1500" dirty="0"/>
          </a:p>
        </p:txBody>
      </p:sp>
      <p:sp>
        <p:nvSpPr>
          <p:cNvPr id="6" name="Text 4"/>
          <p:cNvSpPr/>
          <p:nvPr/>
        </p:nvSpPr>
        <p:spPr>
          <a:xfrm>
            <a:off x="777240" y="2011680"/>
            <a:ext cx="1280160" cy="384048"/>
          </a:xfrm>
          <a:prstGeom prst="rect">
            <a:avLst/>
          </a:prstGeom>
          <a:noFill/>
          <a:ln/>
        </p:spPr>
        <p:txBody>
          <a:bodyPr wrap="square" rtlCol="0" anchor="ctr"/>
          <a:lstStyle/>
          <a:p>
            <a:pPr marL="0" indent="0">
              <a:buNone/>
            </a:pPr>
            <a:r>
              <a:rPr lang="en-US" sz="1100" dirty="0">
                <a:solidFill>
                  <a:srgbClr val="EAF0F5"/>
                </a:solidFill>
                <a:latin typeface="Calibri" pitchFamily="34" charset="0"/>
                <a:ea typeface="Calibri" pitchFamily="34" charset="-122"/>
                <a:cs typeface="Calibri" pitchFamily="34" charset="-120"/>
              </a:rPr>
              <a:t>agent_id · email₁</a:t>
            </a:r>
            <a:endParaRPr lang="en-US" sz="1100" dirty="0"/>
          </a:p>
        </p:txBody>
      </p:sp>
      <p:sp>
        <p:nvSpPr>
          <p:cNvPr id="7" name="Shape 5"/>
          <p:cNvSpPr/>
          <p:nvPr/>
        </p:nvSpPr>
        <p:spPr>
          <a:xfrm>
            <a:off x="2331720" y="1554480"/>
            <a:ext cx="1554480" cy="914400"/>
          </a:xfrm>
          <a:prstGeom prst="roundRect">
            <a:avLst>
              <a:gd name="adj" fmla="val 7000"/>
            </a:avLst>
          </a:prstGeom>
          <a:solidFill>
            <a:srgbClr val="2C5F4F"/>
          </a:solidFill>
          <a:ln/>
          <a:effectLst>
            <a:outerShdw blurRad="63500" dist="25400" dir="5400000" algn="bl" rotWithShape="0">
              <a:srgbClr val="8A9BAC">
                <a:alpha val="30000"/>
              </a:srgbClr>
            </a:outerShdw>
          </a:effectLst>
        </p:spPr>
        <p:txBody>
          <a:bodyPr/>
          <a:lstStyle/>
          <a:p>
            <a:endParaRPr lang="en-US"/>
          </a:p>
        </p:txBody>
      </p:sp>
      <p:sp>
        <p:nvSpPr>
          <p:cNvPr id="8" name="Text 6"/>
          <p:cNvSpPr/>
          <p:nvPr/>
        </p:nvSpPr>
        <p:spPr>
          <a:xfrm>
            <a:off x="2468880" y="1645920"/>
            <a:ext cx="1280160" cy="3200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sellers</a:t>
            </a:r>
            <a:endParaRPr lang="en-US" sz="1500" dirty="0"/>
          </a:p>
        </p:txBody>
      </p:sp>
      <p:sp>
        <p:nvSpPr>
          <p:cNvPr id="9" name="Text 7"/>
          <p:cNvSpPr/>
          <p:nvPr/>
        </p:nvSpPr>
        <p:spPr>
          <a:xfrm>
            <a:off x="2468880" y="2011680"/>
            <a:ext cx="1280160" cy="384048"/>
          </a:xfrm>
          <a:prstGeom prst="rect">
            <a:avLst/>
          </a:prstGeom>
          <a:noFill/>
          <a:ln/>
        </p:spPr>
        <p:txBody>
          <a:bodyPr wrap="square" rtlCol="0" anchor="ctr"/>
          <a:lstStyle/>
          <a:p>
            <a:pPr marL="0" indent="0">
              <a:buNone/>
            </a:pPr>
            <a:r>
              <a:rPr lang="en-US" sz="1100" dirty="0">
                <a:solidFill>
                  <a:srgbClr val="EAF0F5"/>
                </a:solidFill>
                <a:latin typeface="Calibri" pitchFamily="34" charset="0"/>
                <a:ea typeface="Calibri" pitchFamily="34" charset="-122"/>
                <a:cs typeface="Calibri" pitchFamily="34" charset="-120"/>
              </a:rPr>
              <a:t>seller_id</a:t>
            </a:r>
            <a:endParaRPr lang="en-US" sz="1100" dirty="0"/>
          </a:p>
        </p:txBody>
      </p:sp>
      <p:sp>
        <p:nvSpPr>
          <p:cNvPr id="10" name="Shape 8"/>
          <p:cNvSpPr/>
          <p:nvPr/>
        </p:nvSpPr>
        <p:spPr>
          <a:xfrm>
            <a:off x="4023360" y="1554480"/>
            <a:ext cx="1554480" cy="914400"/>
          </a:xfrm>
          <a:prstGeom prst="roundRect">
            <a:avLst>
              <a:gd name="adj" fmla="val 7000"/>
            </a:avLst>
          </a:prstGeom>
          <a:solidFill>
            <a:srgbClr val="2C5F4F"/>
          </a:solidFill>
          <a:ln/>
          <a:effectLst>
            <a:outerShdw blurRad="63500" dist="25400" dir="5400000" algn="bl" rotWithShape="0">
              <a:srgbClr val="8A9BAC">
                <a:alpha val="30000"/>
              </a:srgbClr>
            </a:outerShdw>
          </a:effectLst>
        </p:spPr>
        <p:txBody>
          <a:bodyPr/>
          <a:lstStyle/>
          <a:p>
            <a:endParaRPr lang="en-US"/>
          </a:p>
        </p:txBody>
      </p:sp>
      <p:sp>
        <p:nvSpPr>
          <p:cNvPr id="11" name="Text 9"/>
          <p:cNvSpPr/>
          <p:nvPr/>
        </p:nvSpPr>
        <p:spPr>
          <a:xfrm>
            <a:off x="4160520" y="1645920"/>
            <a:ext cx="1280160" cy="3200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buyers</a:t>
            </a:r>
            <a:endParaRPr lang="en-US" sz="1500" dirty="0"/>
          </a:p>
        </p:txBody>
      </p:sp>
      <p:sp>
        <p:nvSpPr>
          <p:cNvPr id="12" name="Text 10"/>
          <p:cNvSpPr/>
          <p:nvPr/>
        </p:nvSpPr>
        <p:spPr>
          <a:xfrm>
            <a:off x="4160520" y="2011680"/>
            <a:ext cx="1280160" cy="384048"/>
          </a:xfrm>
          <a:prstGeom prst="rect">
            <a:avLst/>
          </a:prstGeom>
          <a:noFill/>
          <a:ln/>
        </p:spPr>
        <p:txBody>
          <a:bodyPr wrap="square" rtlCol="0" anchor="ctr"/>
          <a:lstStyle/>
          <a:p>
            <a:pPr marL="0" indent="0">
              <a:buNone/>
            </a:pPr>
            <a:r>
              <a:rPr lang="en-US" sz="1100" dirty="0">
                <a:solidFill>
                  <a:srgbClr val="EAF0F5"/>
                </a:solidFill>
                <a:latin typeface="Calibri" pitchFamily="34" charset="0"/>
                <a:ea typeface="Calibri" pitchFamily="34" charset="-122"/>
                <a:cs typeface="Calibri" pitchFamily="34" charset="-120"/>
              </a:rPr>
              <a:t>buyer_id</a:t>
            </a:r>
            <a:endParaRPr lang="en-US" sz="1100" dirty="0"/>
          </a:p>
        </p:txBody>
      </p:sp>
      <p:sp>
        <p:nvSpPr>
          <p:cNvPr id="13" name="Shape 11"/>
          <p:cNvSpPr/>
          <p:nvPr/>
        </p:nvSpPr>
        <p:spPr>
          <a:xfrm>
            <a:off x="640080" y="2697480"/>
            <a:ext cx="5074920" cy="914400"/>
          </a:xfrm>
          <a:prstGeom prst="roundRect">
            <a:avLst>
              <a:gd name="adj" fmla="val 7000"/>
            </a:avLst>
          </a:prstGeom>
          <a:solidFill>
            <a:srgbClr val="4B3F72"/>
          </a:solidFill>
          <a:ln/>
          <a:effectLst>
            <a:outerShdw blurRad="63500" dist="25400" dir="5400000" algn="bl" rotWithShape="0">
              <a:srgbClr val="8A9BAC">
                <a:alpha val="30000"/>
              </a:srgbClr>
            </a:outerShdw>
          </a:effectLst>
        </p:spPr>
        <p:txBody>
          <a:bodyPr/>
          <a:lstStyle/>
          <a:p>
            <a:endParaRPr lang="en-US"/>
          </a:p>
        </p:txBody>
      </p:sp>
      <p:sp>
        <p:nvSpPr>
          <p:cNvPr id="14" name="Text 12"/>
          <p:cNvSpPr/>
          <p:nvPr/>
        </p:nvSpPr>
        <p:spPr>
          <a:xfrm>
            <a:off x="777240" y="2788920"/>
            <a:ext cx="4800600" cy="3200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properties</a:t>
            </a:r>
            <a:endParaRPr lang="en-US" sz="1500" dirty="0"/>
          </a:p>
        </p:txBody>
      </p:sp>
      <p:sp>
        <p:nvSpPr>
          <p:cNvPr id="15" name="Text 13"/>
          <p:cNvSpPr/>
          <p:nvPr/>
        </p:nvSpPr>
        <p:spPr>
          <a:xfrm>
            <a:off x="777240" y="3154680"/>
            <a:ext cx="4800600" cy="384048"/>
          </a:xfrm>
          <a:prstGeom prst="rect">
            <a:avLst/>
          </a:prstGeom>
          <a:noFill/>
          <a:ln/>
        </p:spPr>
        <p:txBody>
          <a:bodyPr wrap="square" rtlCol="0" anchor="ctr"/>
          <a:lstStyle/>
          <a:p>
            <a:pPr marL="0" indent="0">
              <a:buNone/>
            </a:pPr>
            <a:r>
              <a:rPr lang="en-US" sz="1100" dirty="0">
                <a:solidFill>
                  <a:srgbClr val="EAF0F5"/>
                </a:solidFill>
                <a:latin typeface="Calibri" pitchFamily="34" charset="0"/>
                <a:ea typeface="Calibri" pitchFamily="34" charset="-122"/>
                <a:cs typeface="Calibri" pitchFamily="34" charset="-120"/>
              </a:rPr>
              <a:t>property_id · →seller · →agent · photo</a:t>
            </a:r>
            <a:endParaRPr lang="en-US" sz="1100" dirty="0"/>
          </a:p>
        </p:txBody>
      </p:sp>
      <p:sp>
        <p:nvSpPr>
          <p:cNvPr id="16" name="Shape 14"/>
          <p:cNvSpPr/>
          <p:nvPr/>
        </p:nvSpPr>
        <p:spPr>
          <a:xfrm>
            <a:off x="640080" y="3840480"/>
            <a:ext cx="5074920" cy="914400"/>
          </a:xfrm>
          <a:prstGeom prst="roundRect">
            <a:avLst>
              <a:gd name="adj" fmla="val 7000"/>
            </a:avLst>
          </a:prstGeom>
          <a:solidFill>
            <a:srgbClr val="7A2E2E"/>
          </a:solidFill>
          <a:ln/>
          <a:effectLst>
            <a:outerShdw blurRad="63500" dist="25400" dir="5400000" algn="bl" rotWithShape="0">
              <a:srgbClr val="8A9BAC">
                <a:alpha val="30000"/>
              </a:srgbClr>
            </a:outerShdw>
          </a:effectLst>
        </p:spPr>
        <p:txBody>
          <a:bodyPr/>
          <a:lstStyle/>
          <a:p>
            <a:endParaRPr lang="en-US"/>
          </a:p>
        </p:txBody>
      </p:sp>
      <p:sp>
        <p:nvSpPr>
          <p:cNvPr id="17" name="Text 15"/>
          <p:cNvSpPr/>
          <p:nvPr/>
        </p:nvSpPr>
        <p:spPr>
          <a:xfrm>
            <a:off x="777240" y="3931920"/>
            <a:ext cx="4800600" cy="3200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sales</a:t>
            </a:r>
            <a:endParaRPr lang="en-US" sz="1500" dirty="0"/>
          </a:p>
        </p:txBody>
      </p:sp>
      <p:sp>
        <p:nvSpPr>
          <p:cNvPr id="18" name="Text 16"/>
          <p:cNvSpPr/>
          <p:nvPr/>
        </p:nvSpPr>
        <p:spPr>
          <a:xfrm>
            <a:off x="777240" y="4297680"/>
            <a:ext cx="4800600" cy="384048"/>
          </a:xfrm>
          <a:prstGeom prst="rect">
            <a:avLst/>
          </a:prstGeom>
          <a:noFill/>
          <a:ln/>
        </p:spPr>
        <p:txBody>
          <a:bodyPr wrap="square" rtlCol="0" anchor="ctr"/>
          <a:lstStyle/>
          <a:p>
            <a:pPr marL="0" indent="0">
              <a:buNone/>
            </a:pPr>
            <a:r>
              <a:rPr lang="en-US" sz="1100" dirty="0">
                <a:solidFill>
                  <a:srgbClr val="EAF0F5"/>
                </a:solidFill>
                <a:latin typeface="Calibri" pitchFamily="34" charset="0"/>
                <a:ea typeface="Calibri" pitchFamily="34" charset="-122"/>
                <a:cs typeface="Calibri" pitchFamily="34" charset="-120"/>
              </a:rPr>
              <a:t>→property (unique) · →buyer · →agents</a:t>
            </a:r>
            <a:endParaRPr lang="en-US" sz="1100" dirty="0"/>
          </a:p>
        </p:txBody>
      </p:sp>
      <p:sp>
        <p:nvSpPr>
          <p:cNvPr id="19" name="Shape 17"/>
          <p:cNvSpPr/>
          <p:nvPr/>
        </p:nvSpPr>
        <p:spPr>
          <a:xfrm>
            <a:off x="5989320" y="1554480"/>
            <a:ext cx="5669280" cy="2697480"/>
          </a:xfrm>
          <a:prstGeom prst="roundRect">
            <a:avLst>
              <a:gd name="adj" fmla="val 2034"/>
            </a:avLst>
          </a:prstGeom>
          <a:solidFill>
            <a:srgbClr val="0E2233"/>
          </a:solidFill>
          <a:ln w="12700">
            <a:solidFill>
              <a:srgbClr val="13293D"/>
            </a:solidFill>
            <a:prstDash val="solid"/>
          </a:ln>
          <a:effectLst>
            <a:outerShdw blurRad="88900" dist="25400" dir="5400000" algn="bl" rotWithShape="0">
              <a:srgbClr val="26506E">
                <a:alpha val="30000"/>
              </a:srgbClr>
            </a:outerShdw>
          </a:effectLst>
        </p:spPr>
        <p:txBody>
          <a:bodyPr/>
          <a:lstStyle/>
          <a:p>
            <a:endParaRPr lang="en-US"/>
          </a:p>
        </p:txBody>
      </p:sp>
      <p:sp>
        <p:nvSpPr>
          <p:cNvPr id="20" name="Text 18"/>
          <p:cNvSpPr/>
          <p:nvPr/>
        </p:nvSpPr>
        <p:spPr>
          <a:xfrm>
            <a:off x="6190488" y="1664208"/>
            <a:ext cx="5303520" cy="274320"/>
          </a:xfrm>
          <a:prstGeom prst="rect">
            <a:avLst/>
          </a:prstGeom>
          <a:noFill/>
          <a:ln/>
        </p:spPr>
        <p:txBody>
          <a:bodyPr wrap="square" rtlCol="0" anchor="ctr"/>
          <a:lstStyle/>
          <a:p>
            <a:pPr marL="0" indent="0" algn="l">
              <a:buNone/>
            </a:pPr>
            <a:r>
              <a:rPr lang="en-US" sz="1100" b="1" dirty="0">
                <a:solidFill>
                  <a:srgbClr val="E9C46A"/>
                </a:solidFill>
                <a:latin typeface="Courier New" pitchFamily="34" charset="0"/>
                <a:ea typeface="Courier New" pitchFamily="34" charset="-122"/>
                <a:cs typeface="Courier New" pitchFamily="34" charset="-120"/>
              </a:rPr>
              <a:t>schema.sql</a:t>
            </a:r>
            <a:endParaRPr lang="en-US" sz="1100" dirty="0"/>
          </a:p>
        </p:txBody>
      </p:sp>
      <p:sp>
        <p:nvSpPr>
          <p:cNvPr id="21" name="Text 19"/>
          <p:cNvSpPr/>
          <p:nvPr/>
        </p:nvSpPr>
        <p:spPr>
          <a:xfrm>
            <a:off x="6190488" y="2011680"/>
            <a:ext cx="5266944" cy="2103120"/>
          </a:xfrm>
          <a:prstGeom prst="rect">
            <a:avLst/>
          </a:prstGeom>
          <a:noFill/>
          <a:ln/>
        </p:spPr>
        <p:txBody>
          <a:bodyPr wrap="square" lIns="0" tIns="0" rIns="0" bIns="0" rtlCol="0" anchor="t"/>
          <a:lstStyle/>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CREATE TABLE sales (</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sale_id      INTEGER PRIMARY KEY,</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property_id  INTEGER NOT NULL UNIQUE</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REFERENCES properties,</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buyer_id     INTEGER REFERENCES buyers,</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selling_agent_id  INTEGER REFERENCES agents,</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buyer_agent_id    INTEGER REFERENCES agents, </a:t>
            </a:r>
            <a:r>
              <a:rPr lang="en-US" sz="1150" i="1" dirty="0">
                <a:solidFill>
                  <a:srgbClr val="7FA6C9"/>
                </a:solidFill>
                <a:latin typeface="Courier New" pitchFamily="34" charset="0"/>
                <a:ea typeface="Courier New" pitchFamily="34" charset="-122"/>
                <a:cs typeface="Courier New" pitchFamily="34" charset="-120"/>
              </a:rPr>
              <a:t>-- null ok</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sale_price REAL,  sale_date TEXT</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a:t>
            </a:r>
            <a:endParaRPr lang="en-US" sz="1150" dirty="0"/>
          </a:p>
        </p:txBody>
      </p:sp>
      <p:sp>
        <p:nvSpPr>
          <p:cNvPr id="24" name="Text 22"/>
          <p:cNvSpPr/>
          <p:nvPr/>
        </p:nvSpPr>
        <p:spPr>
          <a:xfrm>
            <a:off x="6030820" y="4416552"/>
            <a:ext cx="5248656" cy="1463040"/>
          </a:xfrm>
          <a:prstGeom prst="rect">
            <a:avLst/>
          </a:prstGeom>
          <a:noFill/>
          <a:ln/>
        </p:spPr>
        <p:txBody>
          <a:bodyPr wrap="square" lIns="0" tIns="0" rIns="0" bIns="0" rtlCol="0" anchor="t"/>
          <a:lstStyle/>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sales.property_id is UNIQUE — a home sells at most once.</a:t>
            </a:r>
            <a:endParaRPr lang="en-US" sz="1250" dirty="0"/>
          </a:p>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“For sale” is derived: a property with no sales row is on the market. No status flag to forget to update.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E9C46A"/>
          </a:solidFill>
          <a:ln/>
          <a:effectLst>
            <a:outerShdw blurRad="63500" dist="25400" dir="5400000" algn="bl" rotWithShape="0">
              <a:srgbClr val="B98A2E">
                <a:alpha val="40000"/>
              </a:srgbClr>
            </a:outerShdw>
          </a:effectLst>
        </p:spPr>
        <p:txBody>
          <a:bodyPr/>
          <a:lstStyle/>
          <a:p>
            <a:endParaRPr lang="en-US"/>
          </a:p>
        </p:txBody>
      </p:sp>
      <p:sp>
        <p:nvSpPr>
          <p:cNvPr id="3" name="Text 1"/>
          <p:cNvSpPr/>
          <p:nvPr/>
        </p:nvSpPr>
        <p:spPr>
          <a:xfrm>
            <a:off x="502920" y="365760"/>
            <a:ext cx="658368" cy="658368"/>
          </a:xfrm>
          <a:prstGeom prst="rect">
            <a:avLst/>
          </a:prstGeom>
          <a:noFill/>
          <a:ln/>
        </p:spPr>
        <p:txBody>
          <a:bodyPr wrap="square" rtlCol="0" anchor="ctr"/>
          <a:lstStyle/>
          <a:p>
            <a:pPr marL="0" indent="0" algn="ctr">
              <a:buNone/>
            </a:pPr>
            <a:r>
              <a:rPr lang="en-US" sz="2600" b="1" dirty="0">
                <a:solidFill>
                  <a:srgbClr val="13293D"/>
                </a:solidFill>
                <a:latin typeface="Cambria" pitchFamily="34" charset="0"/>
                <a:ea typeface="Cambria" pitchFamily="34" charset="-122"/>
                <a:cs typeface="Cambria" pitchFamily="34" charset="-120"/>
              </a:rPr>
              <a:t>A</a:t>
            </a:r>
            <a:endParaRPr lang="en-US" sz="2600" dirty="0"/>
          </a:p>
        </p:txBody>
      </p:sp>
      <p:sp>
        <p:nvSpPr>
          <p:cNvPr id="4" name="Text 2"/>
          <p:cNvSpPr/>
          <p:nvPr/>
        </p:nvSpPr>
        <p:spPr>
          <a:xfrm>
            <a:off x="1325880" y="365760"/>
            <a:ext cx="10332720" cy="566928"/>
          </a:xfrm>
          <a:prstGeom prst="rect">
            <a:avLst/>
          </a:prstGeom>
          <a:noFill/>
          <a:ln/>
        </p:spPr>
        <p:txBody>
          <a:bodyPr wrap="square" rtlCol="0" anchor="ctr"/>
          <a:lstStyle/>
          <a:p>
            <a:pPr marL="0" indent="0" algn="l">
              <a:buNone/>
            </a:pPr>
            <a:r>
              <a:rPr lang="en-US" sz="2900" b="1" dirty="0">
                <a:solidFill>
                  <a:srgbClr val="13293D"/>
                </a:solidFill>
                <a:latin typeface="Cambria" pitchFamily="34" charset="0"/>
                <a:ea typeface="Cambria" pitchFamily="34" charset="-122"/>
                <a:cs typeface="Cambria" pitchFamily="34" charset="-120"/>
              </a:rPr>
              <a:t>Homes for sale by city &amp; price</a:t>
            </a:r>
            <a:endParaRPr lang="en-US" sz="2900" dirty="0"/>
          </a:p>
        </p:txBody>
      </p:sp>
      <p:sp>
        <p:nvSpPr>
          <p:cNvPr id="5" name="Text 3"/>
          <p:cNvSpPr/>
          <p:nvPr/>
        </p:nvSpPr>
        <p:spPr>
          <a:xfrm>
            <a:off x="1344168" y="969264"/>
            <a:ext cx="10332720" cy="402336"/>
          </a:xfrm>
          <a:prstGeom prst="rect">
            <a:avLst/>
          </a:prstGeom>
          <a:noFill/>
          <a:ln/>
        </p:spPr>
        <p:txBody>
          <a:bodyPr wrap="square" rtlCol="0" anchor="ctr"/>
          <a:lstStyle/>
          <a:p>
            <a:pPr marL="0" indent="0" algn="l">
              <a:buNone/>
            </a:pPr>
            <a:r>
              <a:rPr lang="en-US" sz="1450" i="1" dirty="0">
                <a:solidFill>
                  <a:srgbClr val="2A6F97"/>
                </a:solidFill>
                <a:latin typeface="Calibri" pitchFamily="34" charset="0"/>
                <a:ea typeface="Calibri" pitchFamily="34" charset="-122"/>
                <a:cs typeface="Calibri" pitchFamily="34" charset="-120"/>
              </a:rPr>
              <a:t>Find addresses of homes for sale in “Bethlehem” costing between $200,000 and $250,000.</a:t>
            </a:r>
            <a:endParaRPr lang="en-US" sz="1450" dirty="0"/>
          </a:p>
        </p:txBody>
      </p:sp>
      <p:sp>
        <p:nvSpPr>
          <p:cNvPr id="6" name="Shape 4"/>
          <p:cNvSpPr/>
          <p:nvPr/>
        </p:nvSpPr>
        <p:spPr>
          <a:xfrm>
            <a:off x="2531652" y="1417320"/>
            <a:ext cx="7098215" cy="2743200"/>
          </a:xfrm>
          <a:prstGeom prst="roundRect">
            <a:avLst>
              <a:gd name="adj" fmla="val 1667"/>
            </a:avLst>
          </a:prstGeom>
          <a:solidFill>
            <a:srgbClr val="FFFFFF"/>
          </a:solidFill>
          <a:ln w="12700">
            <a:solidFill>
              <a:srgbClr val="D5DEE7"/>
            </a:solidFill>
            <a:prstDash val="solid"/>
          </a:ln>
          <a:effectLst>
            <a:outerShdw blurRad="114300" dist="38100" dir="5400000" algn="bl" rotWithShape="0">
              <a:srgbClr val="8A9BAC">
                <a:alpha val="35000"/>
              </a:srgbClr>
            </a:outerShdw>
          </a:effectLst>
        </p:spPr>
        <p:txBody>
          <a:bodyPr/>
          <a:lstStyle/>
          <a:p>
            <a:endParaRPr lang="en-US"/>
          </a:p>
        </p:txBody>
      </p:sp>
      <p:pic>
        <p:nvPicPr>
          <p:cNvPr id="7" name="Image 0" descr="C:\Users\dhanu\Downloads\databasesystemsproject\queryAsearch.jpg"/>
          <p:cNvPicPr>
            <a:picLocks noChangeAspect="1"/>
          </p:cNvPicPr>
          <p:nvPr/>
        </p:nvPicPr>
        <p:blipFill>
          <a:blip r:embed="rId3"/>
          <a:stretch>
            <a:fillRect/>
          </a:stretch>
        </p:blipFill>
        <p:spPr>
          <a:xfrm>
            <a:off x="2595660" y="1481328"/>
            <a:ext cx="6970199" cy="2615184"/>
          </a:xfrm>
          <a:prstGeom prst="rect">
            <a:avLst/>
          </a:prstGeom>
        </p:spPr>
      </p:pic>
      <p:sp>
        <p:nvSpPr>
          <p:cNvPr id="8" name="Text 5"/>
          <p:cNvSpPr/>
          <p:nvPr/>
        </p:nvSpPr>
        <p:spPr>
          <a:xfrm>
            <a:off x="2531652" y="4178808"/>
            <a:ext cx="7098215" cy="256032"/>
          </a:xfrm>
          <a:prstGeom prst="rect">
            <a:avLst/>
          </a:prstGeom>
          <a:noFill/>
          <a:ln/>
        </p:spPr>
        <p:txBody>
          <a:bodyPr wrap="square" rtlCol="0" anchor="ctr"/>
          <a:lstStyle/>
          <a:p>
            <a:pPr marL="0" indent="0" algn="ctr">
              <a:buNone/>
            </a:pPr>
            <a:endParaRPr lang="en-US" sz="1100" dirty="0"/>
          </a:p>
        </p:txBody>
      </p:sp>
      <p:sp>
        <p:nvSpPr>
          <p:cNvPr id="9" name="Shape 6"/>
          <p:cNvSpPr/>
          <p:nvPr/>
        </p:nvSpPr>
        <p:spPr>
          <a:xfrm>
            <a:off x="548640" y="4315968"/>
            <a:ext cx="6720840" cy="2194560"/>
          </a:xfrm>
          <a:prstGeom prst="roundRect">
            <a:avLst>
              <a:gd name="adj" fmla="val 2500"/>
            </a:avLst>
          </a:prstGeom>
          <a:solidFill>
            <a:srgbClr val="0E2233"/>
          </a:solidFill>
          <a:ln w="12700">
            <a:solidFill>
              <a:srgbClr val="13293D"/>
            </a:solidFill>
            <a:prstDash val="solid"/>
          </a:ln>
          <a:effectLst>
            <a:outerShdw blurRad="88900" dist="25400" dir="5400000" algn="bl" rotWithShape="0">
              <a:srgbClr val="26506E">
                <a:alpha val="30000"/>
              </a:srgbClr>
            </a:outerShdw>
          </a:effectLst>
        </p:spPr>
        <p:txBody>
          <a:bodyPr/>
          <a:lstStyle/>
          <a:p>
            <a:endParaRPr lang="en-US"/>
          </a:p>
        </p:txBody>
      </p:sp>
      <p:sp>
        <p:nvSpPr>
          <p:cNvPr id="10" name="Text 7"/>
          <p:cNvSpPr/>
          <p:nvPr/>
        </p:nvSpPr>
        <p:spPr>
          <a:xfrm>
            <a:off x="749808" y="4425696"/>
            <a:ext cx="6355080" cy="274320"/>
          </a:xfrm>
          <a:prstGeom prst="rect">
            <a:avLst/>
          </a:prstGeom>
          <a:noFill/>
          <a:ln/>
        </p:spPr>
        <p:txBody>
          <a:bodyPr wrap="square" rtlCol="0" anchor="ctr"/>
          <a:lstStyle/>
          <a:p>
            <a:pPr marL="0" indent="0" algn="l">
              <a:buNone/>
            </a:pPr>
            <a:r>
              <a:rPr lang="en-US" sz="1100" b="1" dirty="0">
                <a:solidFill>
                  <a:srgbClr val="E9C46A"/>
                </a:solidFill>
                <a:latin typeface="Courier New" pitchFamily="34" charset="0"/>
                <a:ea typeface="Courier New" pitchFamily="34" charset="-122"/>
                <a:cs typeface="Courier New" pitchFamily="34" charset="-120"/>
              </a:rPr>
              <a:t>db.py</a:t>
            </a:r>
            <a:endParaRPr lang="en-US" sz="1100" dirty="0"/>
          </a:p>
        </p:txBody>
      </p:sp>
      <p:sp>
        <p:nvSpPr>
          <p:cNvPr id="11" name="Text 8"/>
          <p:cNvSpPr/>
          <p:nvPr/>
        </p:nvSpPr>
        <p:spPr>
          <a:xfrm>
            <a:off x="749808" y="4773168"/>
            <a:ext cx="6318504" cy="1600200"/>
          </a:xfrm>
          <a:prstGeom prst="rect">
            <a:avLst/>
          </a:prstGeom>
          <a:noFill/>
          <a:ln/>
        </p:spPr>
        <p:txBody>
          <a:bodyPr wrap="square" lIns="0" tIns="0" rIns="0" bIns="0" rtlCol="0" anchor="t"/>
          <a:lstStyle/>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SELECT p.address, p.city, p.list_price</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FROM   properties p</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LEFT JOIN sales s ON s.property_id = p.property_id</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WHERE  s.sale_id IS NULL             </a:t>
            </a:r>
            <a:r>
              <a:rPr lang="en-US" sz="1150" i="1" dirty="0">
                <a:solidFill>
                  <a:srgbClr val="7FA6C9"/>
                </a:solidFill>
                <a:latin typeface="Courier New" pitchFamily="34" charset="0"/>
                <a:ea typeface="Courier New" pitchFamily="34" charset="-122"/>
                <a:cs typeface="Courier New" pitchFamily="34" charset="-120"/>
              </a:rPr>
              <a:t>-- still for sale</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AND  p.city = ?                    </a:t>
            </a:r>
            <a:r>
              <a:rPr lang="en-US" sz="1150" i="1" dirty="0">
                <a:solidFill>
                  <a:srgbClr val="7FA6C9"/>
                </a:solidFill>
                <a:latin typeface="Courier New" pitchFamily="34" charset="0"/>
                <a:ea typeface="Courier New" pitchFamily="34" charset="-122"/>
                <a:cs typeface="Courier New" pitchFamily="34" charset="-120"/>
              </a:rPr>
              <a:t>-- 'Bethlehem'</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AND  p.list_price BETWEEN ? AND ?; </a:t>
            </a:r>
            <a:r>
              <a:rPr lang="en-US" sz="1150" i="1" dirty="0">
                <a:solidFill>
                  <a:srgbClr val="7FA6C9"/>
                </a:solidFill>
                <a:latin typeface="Courier New" pitchFamily="34" charset="0"/>
                <a:ea typeface="Courier New" pitchFamily="34" charset="-122"/>
                <a:cs typeface="Courier New" pitchFamily="34" charset="-120"/>
              </a:rPr>
              <a:t>-- 200000, 250000</a:t>
            </a:r>
            <a:endParaRPr lang="en-US" sz="1150" dirty="0"/>
          </a:p>
        </p:txBody>
      </p:sp>
      <p:sp>
        <p:nvSpPr>
          <p:cNvPr id="14" name="Text 11"/>
          <p:cNvSpPr/>
          <p:nvPr/>
        </p:nvSpPr>
        <p:spPr>
          <a:xfrm>
            <a:off x="7717536" y="4773168"/>
            <a:ext cx="3721608" cy="1645920"/>
          </a:xfrm>
          <a:prstGeom prst="rect">
            <a:avLst/>
          </a:prstGeom>
          <a:noFill/>
          <a:ln/>
        </p:spPr>
        <p:txBody>
          <a:bodyPr wrap="square" lIns="0" tIns="0" rIns="0" bIns="0" rtlCol="0" anchor="t"/>
          <a:lstStyle/>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Two matches: 48 Cedar Ave and 12 Maple St.</a:t>
            </a:r>
            <a:endParaRPr lang="en-US" sz="1250" dirty="0"/>
          </a:p>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A $172,000 Bethlehem home is correctly excluded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E9C46A"/>
          </a:solidFill>
          <a:ln/>
          <a:effectLst>
            <a:outerShdw blurRad="63500" dist="25400" dir="5400000" algn="bl" rotWithShape="0">
              <a:srgbClr val="B98A2E">
                <a:alpha val="40000"/>
              </a:srgbClr>
            </a:outerShdw>
          </a:effectLst>
        </p:spPr>
        <p:txBody>
          <a:bodyPr/>
          <a:lstStyle/>
          <a:p>
            <a:endParaRPr lang="en-US"/>
          </a:p>
        </p:txBody>
      </p:sp>
      <p:sp>
        <p:nvSpPr>
          <p:cNvPr id="3" name="Text 1"/>
          <p:cNvSpPr/>
          <p:nvPr/>
        </p:nvSpPr>
        <p:spPr>
          <a:xfrm>
            <a:off x="502920" y="365760"/>
            <a:ext cx="658368" cy="658368"/>
          </a:xfrm>
          <a:prstGeom prst="rect">
            <a:avLst/>
          </a:prstGeom>
          <a:noFill/>
          <a:ln/>
        </p:spPr>
        <p:txBody>
          <a:bodyPr wrap="square" rtlCol="0" anchor="ctr"/>
          <a:lstStyle/>
          <a:p>
            <a:pPr marL="0" indent="0" algn="ctr">
              <a:buNone/>
            </a:pPr>
            <a:r>
              <a:rPr lang="en-US" sz="2600" b="1" dirty="0">
                <a:solidFill>
                  <a:srgbClr val="13293D"/>
                </a:solidFill>
                <a:latin typeface="Cambria" pitchFamily="34" charset="0"/>
                <a:ea typeface="Cambria" pitchFamily="34" charset="-122"/>
                <a:cs typeface="Cambria" pitchFamily="34" charset="-120"/>
              </a:rPr>
              <a:t>B</a:t>
            </a:r>
            <a:endParaRPr lang="en-US" sz="2600" dirty="0"/>
          </a:p>
        </p:txBody>
      </p:sp>
      <p:sp>
        <p:nvSpPr>
          <p:cNvPr id="4" name="Text 2"/>
          <p:cNvSpPr/>
          <p:nvPr/>
        </p:nvSpPr>
        <p:spPr>
          <a:xfrm>
            <a:off x="1325880" y="365760"/>
            <a:ext cx="10332720" cy="566928"/>
          </a:xfrm>
          <a:prstGeom prst="rect">
            <a:avLst/>
          </a:prstGeom>
          <a:noFill/>
          <a:ln/>
        </p:spPr>
        <p:txBody>
          <a:bodyPr wrap="square" rtlCol="0" anchor="ctr"/>
          <a:lstStyle/>
          <a:p>
            <a:pPr marL="0" indent="0" algn="l">
              <a:buNone/>
            </a:pPr>
            <a:r>
              <a:rPr lang="en-US" sz="2900" b="1" dirty="0">
                <a:solidFill>
                  <a:srgbClr val="13293D"/>
                </a:solidFill>
                <a:latin typeface="Cambria" pitchFamily="34" charset="0"/>
                <a:ea typeface="Cambria" pitchFamily="34" charset="-122"/>
                <a:cs typeface="Cambria" pitchFamily="34" charset="-120"/>
              </a:rPr>
              <a:t>By school district, bedrooms &amp; no pool</a:t>
            </a:r>
            <a:endParaRPr lang="en-US" sz="2900" dirty="0"/>
          </a:p>
        </p:txBody>
      </p:sp>
      <p:sp>
        <p:nvSpPr>
          <p:cNvPr id="5" name="Text 3"/>
          <p:cNvSpPr/>
          <p:nvPr/>
        </p:nvSpPr>
        <p:spPr>
          <a:xfrm>
            <a:off x="1344168" y="969264"/>
            <a:ext cx="10332720" cy="402336"/>
          </a:xfrm>
          <a:prstGeom prst="rect">
            <a:avLst/>
          </a:prstGeom>
          <a:noFill/>
          <a:ln/>
        </p:spPr>
        <p:txBody>
          <a:bodyPr wrap="square" rtlCol="0" anchor="ctr"/>
          <a:lstStyle/>
          <a:p>
            <a:pPr marL="0" indent="0" algn="l">
              <a:buNone/>
            </a:pPr>
            <a:r>
              <a:rPr lang="en-US" sz="1450" i="1" dirty="0">
                <a:solidFill>
                  <a:srgbClr val="2A6F97"/>
                </a:solidFill>
                <a:latin typeface="Calibri" pitchFamily="34" charset="0"/>
                <a:ea typeface="Calibri" pitchFamily="34" charset="-122"/>
                <a:cs typeface="Calibri" pitchFamily="34" charset="-120"/>
              </a:rPr>
              <a:t>Find homes for sale in the “Parkland” school district with 4+ bedrooms and no swimming pool.</a:t>
            </a:r>
            <a:endParaRPr lang="en-US" sz="1450" dirty="0"/>
          </a:p>
        </p:txBody>
      </p:sp>
      <p:sp>
        <p:nvSpPr>
          <p:cNvPr id="6" name="Shape 4"/>
          <p:cNvSpPr/>
          <p:nvPr/>
        </p:nvSpPr>
        <p:spPr>
          <a:xfrm>
            <a:off x="3113806" y="1417320"/>
            <a:ext cx="5933909" cy="2743200"/>
          </a:xfrm>
          <a:prstGeom prst="roundRect">
            <a:avLst>
              <a:gd name="adj" fmla="val 1667"/>
            </a:avLst>
          </a:prstGeom>
          <a:solidFill>
            <a:srgbClr val="FFFFFF"/>
          </a:solidFill>
          <a:ln w="12700">
            <a:solidFill>
              <a:srgbClr val="D5DEE7"/>
            </a:solidFill>
            <a:prstDash val="solid"/>
          </a:ln>
          <a:effectLst>
            <a:outerShdw blurRad="114300" dist="38100" dir="5400000" algn="bl" rotWithShape="0">
              <a:srgbClr val="8A9BAC">
                <a:alpha val="35000"/>
              </a:srgbClr>
            </a:outerShdw>
          </a:effectLst>
        </p:spPr>
        <p:txBody>
          <a:bodyPr/>
          <a:lstStyle/>
          <a:p>
            <a:endParaRPr lang="en-US"/>
          </a:p>
        </p:txBody>
      </p:sp>
      <p:pic>
        <p:nvPicPr>
          <p:cNvPr id="7" name="Image 0" descr="C:\Users\dhanu\Downloads\databasesystemsproject\queryBsearch.jpg"/>
          <p:cNvPicPr>
            <a:picLocks noChangeAspect="1"/>
          </p:cNvPicPr>
          <p:nvPr/>
        </p:nvPicPr>
        <p:blipFill>
          <a:blip r:embed="rId3"/>
          <a:stretch>
            <a:fillRect/>
          </a:stretch>
        </p:blipFill>
        <p:spPr>
          <a:xfrm>
            <a:off x="3177813" y="1426464"/>
            <a:ext cx="5805893" cy="2615184"/>
          </a:xfrm>
          <a:prstGeom prst="rect">
            <a:avLst/>
          </a:prstGeom>
        </p:spPr>
      </p:pic>
      <p:sp>
        <p:nvSpPr>
          <p:cNvPr id="8" name="Text 5"/>
          <p:cNvSpPr/>
          <p:nvPr/>
        </p:nvSpPr>
        <p:spPr>
          <a:xfrm>
            <a:off x="2861760" y="3749040"/>
            <a:ext cx="5933909" cy="256032"/>
          </a:xfrm>
          <a:prstGeom prst="rect">
            <a:avLst/>
          </a:prstGeom>
          <a:noFill/>
          <a:ln/>
        </p:spPr>
        <p:txBody>
          <a:bodyPr wrap="square" rtlCol="0" anchor="ctr"/>
          <a:lstStyle/>
          <a:p>
            <a:pPr marL="0" indent="0" algn="ctr">
              <a:buNone/>
            </a:pPr>
            <a:endParaRPr lang="en-US" sz="1100" dirty="0"/>
          </a:p>
        </p:txBody>
      </p:sp>
      <p:sp>
        <p:nvSpPr>
          <p:cNvPr id="9" name="Shape 6"/>
          <p:cNvSpPr/>
          <p:nvPr/>
        </p:nvSpPr>
        <p:spPr>
          <a:xfrm>
            <a:off x="548640" y="4315968"/>
            <a:ext cx="6720840" cy="2194560"/>
          </a:xfrm>
          <a:prstGeom prst="roundRect">
            <a:avLst>
              <a:gd name="adj" fmla="val 2500"/>
            </a:avLst>
          </a:prstGeom>
          <a:solidFill>
            <a:srgbClr val="0E2233"/>
          </a:solidFill>
          <a:ln w="12700">
            <a:solidFill>
              <a:srgbClr val="13293D"/>
            </a:solidFill>
            <a:prstDash val="solid"/>
          </a:ln>
          <a:effectLst>
            <a:outerShdw blurRad="88900" dist="25400" dir="5400000" algn="bl" rotWithShape="0">
              <a:srgbClr val="26506E">
                <a:alpha val="30000"/>
              </a:srgbClr>
            </a:outerShdw>
          </a:effectLst>
        </p:spPr>
        <p:txBody>
          <a:bodyPr/>
          <a:lstStyle/>
          <a:p>
            <a:endParaRPr lang="en-US"/>
          </a:p>
        </p:txBody>
      </p:sp>
      <p:sp>
        <p:nvSpPr>
          <p:cNvPr id="10" name="Text 7"/>
          <p:cNvSpPr/>
          <p:nvPr/>
        </p:nvSpPr>
        <p:spPr>
          <a:xfrm>
            <a:off x="749808" y="4425696"/>
            <a:ext cx="6355080" cy="274320"/>
          </a:xfrm>
          <a:prstGeom prst="rect">
            <a:avLst/>
          </a:prstGeom>
          <a:noFill/>
          <a:ln/>
        </p:spPr>
        <p:txBody>
          <a:bodyPr wrap="square" rtlCol="0" anchor="ctr"/>
          <a:lstStyle/>
          <a:p>
            <a:pPr marL="0" indent="0" algn="l">
              <a:buNone/>
            </a:pPr>
            <a:r>
              <a:rPr lang="en-US" sz="1100" b="1" dirty="0">
                <a:solidFill>
                  <a:srgbClr val="E9C46A"/>
                </a:solidFill>
                <a:latin typeface="Courier New" pitchFamily="34" charset="0"/>
                <a:ea typeface="Courier New" pitchFamily="34" charset="-122"/>
                <a:cs typeface="Courier New" pitchFamily="34" charset="-120"/>
              </a:rPr>
              <a:t>db.py</a:t>
            </a:r>
            <a:endParaRPr lang="en-US" sz="1100" dirty="0"/>
          </a:p>
        </p:txBody>
      </p:sp>
      <p:sp>
        <p:nvSpPr>
          <p:cNvPr id="11" name="Text 8"/>
          <p:cNvSpPr/>
          <p:nvPr/>
        </p:nvSpPr>
        <p:spPr>
          <a:xfrm>
            <a:off x="749808" y="4773168"/>
            <a:ext cx="6318504" cy="1600200"/>
          </a:xfrm>
          <a:prstGeom prst="rect">
            <a:avLst/>
          </a:prstGeom>
          <a:noFill/>
          <a:ln/>
        </p:spPr>
        <p:txBody>
          <a:bodyPr wrap="square" lIns="0" tIns="0" rIns="0" bIns="0" rtlCol="0" anchor="t"/>
          <a:lstStyle/>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SELECT p.address, p.bedrooms, p.has_pool, p.list_price</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FROM   properties p</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LEFT JOIN sales s ON s.property_id = p.property_id</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WHERE  s.sale_id IS NULL</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AND  p.school_district = ?   </a:t>
            </a:r>
            <a:r>
              <a:rPr lang="en-US" sz="1150" i="1" dirty="0">
                <a:solidFill>
                  <a:srgbClr val="7FA6C9"/>
                </a:solidFill>
                <a:latin typeface="Courier New" pitchFamily="34" charset="0"/>
                <a:ea typeface="Courier New" pitchFamily="34" charset="-122"/>
                <a:cs typeface="Courier New" pitchFamily="34" charset="-120"/>
              </a:rPr>
              <a:t>-- 'Parkland'</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AND  p.bedrooms &gt;= ?         </a:t>
            </a:r>
            <a:r>
              <a:rPr lang="en-US" sz="1150" i="1" dirty="0">
                <a:solidFill>
                  <a:srgbClr val="7FA6C9"/>
                </a:solidFill>
                <a:latin typeface="Courier New" pitchFamily="34" charset="0"/>
                <a:ea typeface="Courier New" pitchFamily="34" charset="-122"/>
                <a:cs typeface="Courier New" pitchFamily="34" charset="-120"/>
              </a:rPr>
              <a:t>-- 4</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AND  p.has_pool = 0;         </a:t>
            </a:r>
            <a:r>
              <a:rPr lang="en-US" sz="1150" i="1" dirty="0">
                <a:solidFill>
                  <a:srgbClr val="7FA6C9"/>
                </a:solidFill>
                <a:latin typeface="Courier New" pitchFamily="34" charset="0"/>
                <a:ea typeface="Courier New" pitchFamily="34" charset="-122"/>
                <a:cs typeface="Courier New" pitchFamily="34" charset="-120"/>
              </a:rPr>
              <a:t>-- no pool</a:t>
            </a:r>
            <a:endParaRPr lang="en-US" sz="1150" dirty="0"/>
          </a:p>
        </p:txBody>
      </p:sp>
      <p:sp>
        <p:nvSpPr>
          <p:cNvPr id="14" name="Text 11"/>
          <p:cNvSpPr/>
          <p:nvPr/>
        </p:nvSpPr>
        <p:spPr>
          <a:xfrm>
            <a:off x="7717536" y="4562856"/>
            <a:ext cx="3721608" cy="1645920"/>
          </a:xfrm>
          <a:prstGeom prst="rect">
            <a:avLst/>
          </a:prstGeom>
          <a:noFill/>
          <a:ln/>
        </p:spPr>
        <p:txBody>
          <a:bodyPr wrap="square" lIns="0" tIns="0" rIns="0" bIns="0" rtlCol="0" anchor="t"/>
          <a:lstStyle/>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Two matches: 5 Willow Way (5 bed) and 77 Orchard Ln (4 bed).</a:t>
            </a:r>
            <a:endParaRPr lang="en-US" sz="1250" dirty="0"/>
          </a:p>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A Parkland home with a pool and a 3-bedroom one are both excluded.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E9C46A"/>
          </a:solidFill>
          <a:ln/>
          <a:effectLst>
            <a:outerShdw blurRad="63500" dist="25400" dir="5400000" algn="bl" rotWithShape="0">
              <a:srgbClr val="B98A2E">
                <a:alpha val="40000"/>
              </a:srgbClr>
            </a:outerShdw>
          </a:effectLst>
        </p:spPr>
        <p:txBody>
          <a:bodyPr/>
          <a:lstStyle/>
          <a:p>
            <a:endParaRPr lang="en-US"/>
          </a:p>
        </p:txBody>
      </p:sp>
      <p:sp>
        <p:nvSpPr>
          <p:cNvPr id="3" name="Text 1"/>
          <p:cNvSpPr/>
          <p:nvPr/>
        </p:nvSpPr>
        <p:spPr>
          <a:xfrm>
            <a:off x="502920" y="365760"/>
            <a:ext cx="658368" cy="658368"/>
          </a:xfrm>
          <a:prstGeom prst="rect">
            <a:avLst/>
          </a:prstGeom>
          <a:noFill/>
          <a:ln/>
        </p:spPr>
        <p:txBody>
          <a:bodyPr wrap="square" rtlCol="0" anchor="ctr"/>
          <a:lstStyle/>
          <a:p>
            <a:pPr marL="0" indent="0" algn="ctr">
              <a:buNone/>
            </a:pPr>
            <a:r>
              <a:rPr lang="en-US" sz="2600" b="1" dirty="0">
                <a:solidFill>
                  <a:srgbClr val="13293D"/>
                </a:solidFill>
                <a:latin typeface="Cambria" pitchFamily="34" charset="0"/>
                <a:ea typeface="Cambria" pitchFamily="34" charset="-122"/>
                <a:cs typeface="Cambria" pitchFamily="34" charset="-120"/>
              </a:rPr>
              <a:t>C</a:t>
            </a:r>
            <a:endParaRPr lang="en-US" sz="2600" dirty="0"/>
          </a:p>
        </p:txBody>
      </p:sp>
      <p:sp>
        <p:nvSpPr>
          <p:cNvPr id="4" name="Text 2"/>
          <p:cNvSpPr/>
          <p:nvPr/>
        </p:nvSpPr>
        <p:spPr>
          <a:xfrm>
            <a:off x="1325880" y="365760"/>
            <a:ext cx="10332720" cy="566928"/>
          </a:xfrm>
          <a:prstGeom prst="rect">
            <a:avLst/>
          </a:prstGeom>
          <a:noFill/>
          <a:ln/>
        </p:spPr>
        <p:txBody>
          <a:bodyPr wrap="square" rtlCol="0" anchor="ctr"/>
          <a:lstStyle/>
          <a:p>
            <a:pPr marL="0" indent="0" algn="l">
              <a:buNone/>
            </a:pPr>
            <a:r>
              <a:rPr lang="en-US" sz="2900" b="1" dirty="0">
                <a:solidFill>
                  <a:srgbClr val="13293D"/>
                </a:solidFill>
                <a:latin typeface="Cambria" pitchFamily="34" charset="0"/>
                <a:ea typeface="Cambria" pitchFamily="34" charset="-122"/>
                <a:cs typeface="Cambria" pitchFamily="34" charset="-120"/>
              </a:rPr>
              <a:t>Top-selling agent of the year</a:t>
            </a:r>
            <a:endParaRPr lang="en-US" sz="2900" dirty="0"/>
          </a:p>
        </p:txBody>
      </p:sp>
      <p:sp>
        <p:nvSpPr>
          <p:cNvPr id="5" name="Text 3"/>
          <p:cNvSpPr/>
          <p:nvPr/>
        </p:nvSpPr>
        <p:spPr>
          <a:xfrm>
            <a:off x="1344168" y="969264"/>
            <a:ext cx="10332720" cy="402336"/>
          </a:xfrm>
          <a:prstGeom prst="rect">
            <a:avLst/>
          </a:prstGeom>
          <a:noFill/>
          <a:ln/>
        </p:spPr>
        <p:txBody>
          <a:bodyPr wrap="square" rtlCol="0" anchor="ctr"/>
          <a:lstStyle/>
          <a:p>
            <a:pPr marL="0" indent="0" algn="l">
              <a:buNone/>
            </a:pPr>
            <a:r>
              <a:rPr lang="en-US" sz="1450" i="1" dirty="0">
                <a:solidFill>
                  <a:srgbClr val="2A6F97"/>
                </a:solidFill>
                <a:latin typeface="Calibri" pitchFamily="34" charset="0"/>
                <a:ea typeface="Calibri" pitchFamily="34" charset="-122"/>
                <a:cs typeface="Calibri" pitchFamily="34" charset="-120"/>
              </a:rPr>
              <a:t>Find the agent who sold the most property in 2004 by total dollar value.</a:t>
            </a:r>
            <a:endParaRPr lang="en-US" sz="1450" dirty="0"/>
          </a:p>
        </p:txBody>
      </p:sp>
      <p:sp>
        <p:nvSpPr>
          <p:cNvPr id="6" name="Shape 4"/>
          <p:cNvSpPr/>
          <p:nvPr/>
        </p:nvSpPr>
        <p:spPr>
          <a:xfrm>
            <a:off x="2719120" y="1417320"/>
            <a:ext cx="6723281" cy="2743200"/>
          </a:xfrm>
          <a:prstGeom prst="roundRect">
            <a:avLst>
              <a:gd name="adj" fmla="val 1667"/>
            </a:avLst>
          </a:prstGeom>
          <a:solidFill>
            <a:srgbClr val="FFFFFF"/>
          </a:solidFill>
          <a:ln w="12700">
            <a:solidFill>
              <a:srgbClr val="D5DEE7"/>
            </a:solidFill>
            <a:prstDash val="solid"/>
          </a:ln>
          <a:effectLst>
            <a:outerShdw blurRad="114300" dist="38100" dir="5400000" algn="bl" rotWithShape="0">
              <a:srgbClr val="8A9BAC">
                <a:alpha val="35000"/>
              </a:srgbClr>
            </a:outerShdw>
          </a:effectLst>
        </p:spPr>
        <p:txBody>
          <a:bodyPr/>
          <a:lstStyle/>
          <a:p>
            <a:endParaRPr lang="en-US"/>
          </a:p>
        </p:txBody>
      </p:sp>
      <p:pic>
        <p:nvPicPr>
          <p:cNvPr id="7" name="Image 0" descr="C:\Users\dhanu\Downloads\databasesystemsproject\queryCandDsearch.jpg"/>
          <p:cNvPicPr>
            <a:picLocks noChangeAspect="1"/>
          </p:cNvPicPr>
          <p:nvPr/>
        </p:nvPicPr>
        <p:blipFill>
          <a:blip r:embed="rId3"/>
          <a:stretch>
            <a:fillRect/>
          </a:stretch>
        </p:blipFill>
        <p:spPr>
          <a:xfrm>
            <a:off x="2783128" y="1481328"/>
            <a:ext cx="6595265" cy="2615184"/>
          </a:xfrm>
          <a:prstGeom prst="rect">
            <a:avLst/>
          </a:prstGeom>
        </p:spPr>
      </p:pic>
      <p:sp>
        <p:nvSpPr>
          <p:cNvPr id="8" name="Text 5"/>
          <p:cNvSpPr/>
          <p:nvPr/>
        </p:nvSpPr>
        <p:spPr>
          <a:xfrm>
            <a:off x="2719120" y="4178808"/>
            <a:ext cx="6723281" cy="256032"/>
          </a:xfrm>
          <a:prstGeom prst="rect">
            <a:avLst/>
          </a:prstGeom>
          <a:noFill/>
          <a:ln/>
        </p:spPr>
        <p:txBody>
          <a:bodyPr wrap="square" rtlCol="0" anchor="ctr"/>
          <a:lstStyle/>
          <a:p>
            <a:pPr marL="0" indent="0" algn="ctr">
              <a:buNone/>
            </a:pPr>
            <a:endParaRPr lang="en-US" sz="1100" dirty="0"/>
          </a:p>
        </p:txBody>
      </p:sp>
      <p:sp>
        <p:nvSpPr>
          <p:cNvPr id="9" name="Shape 6"/>
          <p:cNvSpPr/>
          <p:nvPr/>
        </p:nvSpPr>
        <p:spPr>
          <a:xfrm>
            <a:off x="548640" y="4315968"/>
            <a:ext cx="6720840" cy="2194560"/>
          </a:xfrm>
          <a:prstGeom prst="roundRect">
            <a:avLst>
              <a:gd name="adj" fmla="val 2500"/>
            </a:avLst>
          </a:prstGeom>
          <a:solidFill>
            <a:srgbClr val="0E2233"/>
          </a:solidFill>
          <a:ln w="12700">
            <a:solidFill>
              <a:srgbClr val="13293D"/>
            </a:solidFill>
            <a:prstDash val="solid"/>
          </a:ln>
          <a:effectLst>
            <a:outerShdw blurRad="88900" dist="25400" dir="5400000" algn="bl" rotWithShape="0">
              <a:srgbClr val="26506E">
                <a:alpha val="30000"/>
              </a:srgbClr>
            </a:outerShdw>
          </a:effectLst>
        </p:spPr>
        <p:txBody>
          <a:bodyPr/>
          <a:lstStyle/>
          <a:p>
            <a:endParaRPr lang="en-US"/>
          </a:p>
        </p:txBody>
      </p:sp>
      <p:sp>
        <p:nvSpPr>
          <p:cNvPr id="10" name="Text 7"/>
          <p:cNvSpPr/>
          <p:nvPr/>
        </p:nvSpPr>
        <p:spPr>
          <a:xfrm>
            <a:off x="749808" y="4425696"/>
            <a:ext cx="6355080" cy="274320"/>
          </a:xfrm>
          <a:prstGeom prst="rect">
            <a:avLst/>
          </a:prstGeom>
          <a:noFill/>
          <a:ln/>
        </p:spPr>
        <p:txBody>
          <a:bodyPr wrap="square" rtlCol="0" anchor="ctr"/>
          <a:lstStyle/>
          <a:p>
            <a:pPr marL="0" indent="0" algn="l">
              <a:buNone/>
            </a:pPr>
            <a:r>
              <a:rPr lang="en-US" sz="1100" b="1" dirty="0">
                <a:solidFill>
                  <a:srgbClr val="E9C46A"/>
                </a:solidFill>
                <a:latin typeface="Courier New" pitchFamily="34" charset="0"/>
                <a:ea typeface="Courier New" pitchFamily="34" charset="-122"/>
                <a:cs typeface="Courier New" pitchFamily="34" charset="-120"/>
              </a:rPr>
              <a:t>db.py</a:t>
            </a:r>
            <a:endParaRPr lang="en-US" sz="1100" dirty="0"/>
          </a:p>
        </p:txBody>
      </p:sp>
      <p:sp>
        <p:nvSpPr>
          <p:cNvPr id="11" name="Text 8"/>
          <p:cNvSpPr/>
          <p:nvPr/>
        </p:nvSpPr>
        <p:spPr>
          <a:xfrm>
            <a:off x="749808" y="4773168"/>
            <a:ext cx="6318504" cy="1600200"/>
          </a:xfrm>
          <a:prstGeom prst="rect">
            <a:avLst/>
          </a:prstGeom>
          <a:noFill/>
          <a:ln/>
        </p:spPr>
        <p:txBody>
          <a:bodyPr wrap="square" lIns="0" tIns="0" rIns="0" bIns="0" rtlCol="0" anchor="t"/>
          <a:lstStyle/>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SELECT a.name, SUM(s.sale_price) AS total_value,</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COUNT(*) AS num_sales</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FROM   sales s</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JOIN   agents a ON a.agent_id = s.selling_agent_id</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WHERE  strftime('%Y', s.sale_date) = '2004'</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GROUP BY a.agent_id</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ORDER BY total_value DESC  LIMIT 1;</a:t>
            </a:r>
            <a:endParaRPr lang="en-US" sz="1150" dirty="0"/>
          </a:p>
        </p:txBody>
      </p:sp>
      <p:sp>
        <p:nvSpPr>
          <p:cNvPr id="14" name="Text 11"/>
          <p:cNvSpPr/>
          <p:nvPr/>
        </p:nvSpPr>
        <p:spPr>
          <a:xfrm>
            <a:off x="7579156" y="4425696"/>
            <a:ext cx="3721608" cy="1645920"/>
          </a:xfrm>
          <a:prstGeom prst="rect">
            <a:avLst/>
          </a:prstGeom>
          <a:noFill/>
          <a:ln/>
        </p:spPr>
        <p:txBody>
          <a:bodyPr wrap="square" lIns="0" tIns="0" rIns="0" bIns="0" rtlCol="0" anchor="t"/>
          <a:lstStyle/>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Winner: Bob Carter — $533,000 across 2 sales.</a:t>
            </a:r>
            <a:endParaRPr lang="en-US" sz="1250" dirty="0"/>
          </a:p>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strftime('%Y', …) pulls the year so the sum covers 2004 only.</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E9C46A"/>
          </a:solidFill>
          <a:ln/>
          <a:effectLst>
            <a:outerShdw blurRad="63500" dist="25400" dir="5400000" algn="bl" rotWithShape="0">
              <a:srgbClr val="B98A2E">
                <a:alpha val="40000"/>
              </a:srgbClr>
            </a:outerShdw>
          </a:effectLst>
        </p:spPr>
        <p:txBody>
          <a:bodyPr/>
          <a:lstStyle/>
          <a:p>
            <a:endParaRPr lang="en-US"/>
          </a:p>
        </p:txBody>
      </p:sp>
      <p:sp>
        <p:nvSpPr>
          <p:cNvPr id="3" name="Text 1"/>
          <p:cNvSpPr/>
          <p:nvPr/>
        </p:nvSpPr>
        <p:spPr>
          <a:xfrm>
            <a:off x="502920" y="365760"/>
            <a:ext cx="658368" cy="658368"/>
          </a:xfrm>
          <a:prstGeom prst="rect">
            <a:avLst/>
          </a:prstGeom>
          <a:noFill/>
          <a:ln/>
        </p:spPr>
        <p:txBody>
          <a:bodyPr wrap="square" rtlCol="0" anchor="ctr"/>
          <a:lstStyle/>
          <a:p>
            <a:pPr marL="0" indent="0" algn="ctr">
              <a:buNone/>
            </a:pPr>
            <a:r>
              <a:rPr lang="en-US" sz="2600" b="1" dirty="0">
                <a:solidFill>
                  <a:srgbClr val="13293D"/>
                </a:solidFill>
                <a:latin typeface="Cambria" pitchFamily="34" charset="0"/>
                <a:ea typeface="Cambria" pitchFamily="34" charset="-122"/>
                <a:cs typeface="Cambria" pitchFamily="34" charset="-120"/>
              </a:rPr>
              <a:t>D</a:t>
            </a:r>
            <a:endParaRPr lang="en-US" sz="2600" dirty="0"/>
          </a:p>
        </p:txBody>
      </p:sp>
      <p:sp>
        <p:nvSpPr>
          <p:cNvPr id="4" name="Text 2"/>
          <p:cNvSpPr/>
          <p:nvPr/>
        </p:nvSpPr>
        <p:spPr>
          <a:xfrm>
            <a:off x="1325880" y="365760"/>
            <a:ext cx="10332720" cy="566928"/>
          </a:xfrm>
          <a:prstGeom prst="rect">
            <a:avLst/>
          </a:prstGeom>
          <a:noFill/>
          <a:ln/>
        </p:spPr>
        <p:txBody>
          <a:bodyPr wrap="square" rtlCol="0" anchor="ctr"/>
          <a:lstStyle/>
          <a:p>
            <a:pPr marL="0" indent="0" algn="l">
              <a:buNone/>
            </a:pPr>
            <a:r>
              <a:rPr lang="en-US" sz="2900" b="1" dirty="0">
                <a:solidFill>
                  <a:srgbClr val="13293D"/>
                </a:solidFill>
                <a:latin typeface="Cambria" pitchFamily="34" charset="0"/>
                <a:ea typeface="Cambria" pitchFamily="34" charset="-122"/>
                <a:cs typeface="Cambria" pitchFamily="34" charset="-120"/>
              </a:rPr>
              <a:t>Per-agent averages</a:t>
            </a:r>
            <a:endParaRPr lang="en-US" sz="2900" dirty="0"/>
          </a:p>
        </p:txBody>
      </p:sp>
      <p:sp>
        <p:nvSpPr>
          <p:cNvPr id="5" name="Text 3"/>
          <p:cNvSpPr/>
          <p:nvPr/>
        </p:nvSpPr>
        <p:spPr>
          <a:xfrm>
            <a:off x="1344168" y="969264"/>
            <a:ext cx="10332720" cy="402336"/>
          </a:xfrm>
          <a:prstGeom prst="rect">
            <a:avLst/>
          </a:prstGeom>
          <a:noFill/>
          <a:ln/>
        </p:spPr>
        <p:txBody>
          <a:bodyPr wrap="square" rtlCol="0" anchor="ctr"/>
          <a:lstStyle/>
          <a:p>
            <a:pPr marL="0" indent="0" algn="l">
              <a:buNone/>
            </a:pPr>
            <a:r>
              <a:rPr lang="en-US" sz="1450" i="1" dirty="0">
                <a:solidFill>
                  <a:srgbClr val="2A6F97"/>
                </a:solidFill>
                <a:latin typeface="Calibri" pitchFamily="34" charset="0"/>
                <a:ea typeface="Calibri" pitchFamily="34" charset="-122"/>
                <a:cs typeface="Calibri" pitchFamily="34" charset="-120"/>
              </a:rPr>
              <a:t>For each agent, the average selling price in 2004 and the average time on the market.</a:t>
            </a:r>
            <a:endParaRPr lang="en-US" sz="1450" dirty="0"/>
          </a:p>
        </p:txBody>
      </p:sp>
      <p:sp>
        <p:nvSpPr>
          <p:cNvPr id="6" name="Shape 4"/>
          <p:cNvSpPr/>
          <p:nvPr/>
        </p:nvSpPr>
        <p:spPr>
          <a:xfrm>
            <a:off x="2719120" y="1417320"/>
            <a:ext cx="6723281" cy="2743200"/>
          </a:xfrm>
          <a:prstGeom prst="roundRect">
            <a:avLst>
              <a:gd name="adj" fmla="val 1667"/>
            </a:avLst>
          </a:prstGeom>
          <a:solidFill>
            <a:srgbClr val="FFFFFF"/>
          </a:solidFill>
          <a:ln w="12700">
            <a:solidFill>
              <a:srgbClr val="D5DEE7"/>
            </a:solidFill>
            <a:prstDash val="solid"/>
          </a:ln>
          <a:effectLst>
            <a:outerShdw blurRad="114300" dist="38100" dir="5400000" algn="bl" rotWithShape="0">
              <a:srgbClr val="8A9BAC">
                <a:alpha val="35000"/>
              </a:srgbClr>
            </a:outerShdw>
          </a:effectLst>
        </p:spPr>
        <p:txBody>
          <a:bodyPr/>
          <a:lstStyle/>
          <a:p>
            <a:endParaRPr lang="en-US"/>
          </a:p>
        </p:txBody>
      </p:sp>
      <p:pic>
        <p:nvPicPr>
          <p:cNvPr id="7" name="Image 0" descr="C:\Users\dhanu\Downloads\databasesystemsproject\queryCandDsearch.jpg"/>
          <p:cNvPicPr>
            <a:picLocks noChangeAspect="1"/>
          </p:cNvPicPr>
          <p:nvPr/>
        </p:nvPicPr>
        <p:blipFill>
          <a:blip r:embed="rId3"/>
          <a:stretch>
            <a:fillRect/>
          </a:stretch>
        </p:blipFill>
        <p:spPr>
          <a:xfrm>
            <a:off x="2783128" y="1481328"/>
            <a:ext cx="6595265" cy="2615184"/>
          </a:xfrm>
          <a:prstGeom prst="rect">
            <a:avLst/>
          </a:prstGeom>
        </p:spPr>
      </p:pic>
      <p:sp>
        <p:nvSpPr>
          <p:cNvPr id="8" name="Text 5"/>
          <p:cNvSpPr/>
          <p:nvPr/>
        </p:nvSpPr>
        <p:spPr>
          <a:xfrm>
            <a:off x="2719120" y="4178808"/>
            <a:ext cx="6723281" cy="256032"/>
          </a:xfrm>
          <a:prstGeom prst="rect">
            <a:avLst/>
          </a:prstGeom>
          <a:noFill/>
          <a:ln/>
        </p:spPr>
        <p:txBody>
          <a:bodyPr wrap="square" rtlCol="0" anchor="ctr"/>
          <a:lstStyle/>
          <a:p>
            <a:pPr marL="0" indent="0" algn="ctr">
              <a:buNone/>
            </a:pPr>
            <a:endParaRPr lang="en-US" sz="1100" dirty="0"/>
          </a:p>
        </p:txBody>
      </p:sp>
      <p:sp>
        <p:nvSpPr>
          <p:cNvPr id="9" name="Shape 6"/>
          <p:cNvSpPr/>
          <p:nvPr/>
        </p:nvSpPr>
        <p:spPr>
          <a:xfrm>
            <a:off x="548640" y="4315968"/>
            <a:ext cx="6720840" cy="2194560"/>
          </a:xfrm>
          <a:prstGeom prst="roundRect">
            <a:avLst>
              <a:gd name="adj" fmla="val 2500"/>
            </a:avLst>
          </a:prstGeom>
          <a:solidFill>
            <a:srgbClr val="0E2233"/>
          </a:solidFill>
          <a:ln w="12700">
            <a:solidFill>
              <a:srgbClr val="13293D"/>
            </a:solidFill>
            <a:prstDash val="solid"/>
          </a:ln>
          <a:effectLst>
            <a:outerShdw blurRad="88900" dist="25400" dir="5400000" algn="bl" rotWithShape="0">
              <a:srgbClr val="26506E">
                <a:alpha val="30000"/>
              </a:srgbClr>
            </a:outerShdw>
          </a:effectLst>
        </p:spPr>
        <p:txBody>
          <a:bodyPr/>
          <a:lstStyle/>
          <a:p>
            <a:endParaRPr lang="en-US"/>
          </a:p>
        </p:txBody>
      </p:sp>
      <p:sp>
        <p:nvSpPr>
          <p:cNvPr id="10" name="Text 7"/>
          <p:cNvSpPr/>
          <p:nvPr/>
        </p:nvSpPr>
        <p:spPr>
          <a:xfrm>
            <a:off x="749808" y="4425696"/>
            <a:ext cx="6355080" cy="274320"/>
          </a:xfrm>
          <a:prstGeom prst="rect">
            <a:avLst/>
          </a:prstGeom>
          <a:noFill/>
          <a:ln/>
        </p:spPr>
        <p:txBody>
          <a:bodyPr wrap="square" rtlCol="0" anchor="ctr"/>
          <a:lstStyle/>
          <a:p>
            <a:pPr marL="0" indent="0" algn="l">
              <a:buNone/>
            </a:pPr>
            <a:r>
              <a:rPr lang="en-US" sz="1100" b="1" dirty="0">
                <a:solidFill>
                  <a:srgbClr val="E9C46A"/>
                </a:solidFill>
                <a:latin typeface="Courier New" pitchFamily="34" charset="0"/>
                <a:ea typeface="Courier New" pitchFamily="34" charset="-122"/>
                <a:cs typeface="Courier New" pitchFamily="34" charset="-120"/>
              </a:rPr>
              <a:t>db.py</a:t>
            </a:r>
            <a:endParaRPr lang="en-US" sz="1100" dirty="0"/>
          </a:p>
        </p:txBody>
      </p:sp>
      <p:sp>
        <p:nvSpPr>
          <p:cNvPr id="11" name="Text 8"/>
          <p:cNvSpPr/>
          <p:nvPr/>
        </p:nvSpPr>
        <p:spPr>
          <a:xfrm>
            <a:off x="749808" y="4773168"/>
            <a:ext cx="6318504" cy="1600200"/>
          </a:xfrm>
          <a:prstGeom prst="rect">
            <a:avLst/>
          </a:prstGeom>
          <a:noFill/>
          <a:ln/>
        </p:spPr>
        <p:txBody>
          <a:bodyPr wrap="square" lIns="0" tIns="0" rIns="0" bIns="0" rtlCol="0" anchor="t"/>
          <a:lstStyle/>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SELECT a.name,</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ROUND(AVG(s.sale_price),2)          AS avg_price,</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ROUND(AVG(julianday(s.sale_date)</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 julianday(p.listing_date)),1) AS avg_days</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FROM   sales s</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JOIN   properties p ON p.property_id = s.property_id</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JOIN   agents a     ON a.agent_id = s.selling_agent_id</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WHERE  strftime('%Y', s.sale_date) = '2004'</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GROUP BY a.agent_id;</a:t>
            </a:r>
            <a:endParaRPr lang="en-US" sz="1150" dirty="0"/>
          </a:p>
        </p:txBody>
      </p:sp>
      <p:sp>
        <p:nvSpPr>
          <p:cNvPr id="14" name="Text 11"/>
          <p:cNvSpPr/>
          <p:nvPr/>
        </p:nvSpPr>
        <p:spPr>
          <a:xfrm>
            <a:off x="7623751" y="4497676"/>
            <a:ext cx="3721608" cy="1645920"/>
          </a:xfrm>
          <a:prstGeom prst="rect">
            <a:avLst/>
          </a:prstGeom>
          <a:noFill/>
          <a:ln/>
        </p:spPr>
        <p:txBody>
          <a:bodyPr wrap="square" lIns="0" tIns="0" rIns="0" bIns="0" rtlCol="0" anchor="t"/>
          <a:lstStyle/>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Time on market = sale_date − listing_date, via julianday().</a:t>
            </a:r>
            <a:endParaRPr lang="en-US" sz="1250" dirty="0"/>
          </a:p>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This is why the design stores both a listing_date and a sale_date.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E9C46A"/>
          </a:solidFill>
          <a:ln/>
          <a:effectLst>
            <a:outerShdw blurRad="63500" dist="25400" dir="5400000" algn="bl" rotWithShape="0">
              <a:srgbClr val="B98A2E">
                <a:alpha val="40000"/>
              </a:srgbClr>
            </a:outerShdw>
          </a:effectLst>
        </p:spPr>
        <p:txBody>
          <a:bodyPr/>
          <a:lstStyle/>
          <a:p>
            <a:endParaRPr lang="en-US"/>
          </a:p>
        </p:txBody>
      </p:sp>
      <p:sp>
        <p:nvSpPr>
          <p:cNvPr id="3" name="Text 1"/>
          <p:cNvSpPr/>
          <p:nvPr/>
        </p:nvSpPr>
        <p:spPr>
          <a:xfrm>
            <a:off x="502920" y="365760"/>
            <a:ext cx="658368" cy="658368"/>
          </a:xfrm>
          <a:prstGeom prst="rect">
            <a:avLst/>
          </a:prstGeom>
          <a:noFill/>
          <a:ln/>
        </p:spPr>
        <p:txBody>
          <a:bodyPr wrap="square" rtlCol="0" anchor="ctr"/>
          <a:lstStyle/>
          <a:p>
            <a:pPr marL="0" indent="0" algn="ctr">
              <a:buNone/>
            </a:pPr>
            <a:r>
              <a:rPr lang="en-US" sz="2600" b="1" dirty="0">
                <a:solidFill>
                  <a:srgbClr val="13293D"/>
                </a:solidFill>
                <a:latin typeface="Cambria" pitchFamily="34" charset="0"/>
                <a:ea typeface="Cambria" pitchFamily="34" charset="-122"/>
                <a:cs typeface="Cambria" pitchFamily="34" charset="-120"/>
              </a:rPr>
              <a:t>E</a:t>
            </a:r>
            <a:endParaRPr lang="en-US" sz="2600" dirty="0"/>
          </a:p>
        </p:txBody>
      </p:sp>
      <p:sp>
        <p:nvSpPr>
          <p:cNvPr id="4" name="Text 2"/>
          <p:cNvSpPr/>
          <p:nvPr/>
        </p:nvSpPr>
        <p:spPr>
          <a:xfrm>
            <a:off x="1325880" y="365760"/>
            <a:ext cx="10332720" cy="566928"/>
          </a:xfrm>
          <a:prstGeom prst="rect">
            <a:avLst/>
          </a:prstGeom>
          <a:noFill/>
          <a:ln/>
        </p:spPr>
        <p:txBody>
          <a:bodyPr wrap="square" rtlCol="0" anchor="ctr"/>
          <a:lstStyle/>
          <a:p>
            <a:pPr marL="0" indent="0" algn="l">
              <a:buNone/>
            </a:pPr>
            <a:r>
              <a:rPr lang="en-US" sz="2900" b="1" dirty="0">
                <a:solidFill>
                  <a:srgbClr val="13293D"/>
                </a:solidFill>
                <a:latin typeface="Cambria" pitchFamily="34" charset="0"/>
                <a:ea typeface="Cambria" pitchFamily="34" charset="-122"/>
                <a:cs typeface="Cambria" pitchFamily="34" charset="-120"/>
              </a:rPr>
              <a:t>Photo of the most expensive house</a:t>
            </a:r>
            <a:endParaRPr lang="en-US" sz="2900" dirty="0"/>
          </a:p>
        </p:txBody>
      </p:sp>
      <p:sp>
        <p:nvSpPr>
          <p:cNvPr id="5" name="Text 3"/>
          <p:cNvSpPr/>
          <p:nvPr/>
        </p:nvSpPr>
        <p:spPr>
          <a:xfrm>
            <a:off x="1344168" y="969264"/>
            <a:ext cx="10332720" cy="402336"/>
          </a:xfrm>
          <a:prstGeom prst="rect">
            <a:avLst/>
          </a:prstGeom>
          <a:noFill/>
          <a:ln/>
        </p:spPr>
        <p:txBody>
          <a:bodyPr wrap="square" rtlCol="0" anchor="ctr"/>
          <a:lstStyle/>
          <a:p>
            <a:pPr marL="0" indent="0" algn="l">
              <a:buNone/>
            </a:pPr>
            <a:r>
              <a:rPr lang="en-US" sz="1450" i="1" dirty="0">
                <a:solidFill>
                  <a:srgbClr val="2A6F97"/>
                </a:solidFill>
                <a:latin typeface="Calibri" pitchFamily="34" charset="0"/>
                <a:ea typeface="Calibri" pitchFamily="34" charset="-122"/>
                <a:cs typeface="Calibri" pitchFamily="34" charset="-120"/>
              </a:rPr>
              <a:t>Show a picture of the most expensive house(s) in the database.</a:t>
            </a:r>
            <a:endParaRPr lang="en-US" sz="1450" dirty="0"/>
          </a:p>
        </p:txBody>
      </p:sp>
      <p:sp>
        <p:nvSpPr>
          <p:cNvPr id="6" name="Shape 4"/>
          <p:cNvSpPr/>
          <p:nvPr/>
        </p:nvSpPr>
        <p:spPr>
          <a:xfrm>
            <a:off x="548640" y="1481328"/>
            <a:ext cx="5212080" cy="2331720"/>
          </a:xfrm>
          <a:prstGeom prst="roundRect">
            <a:avLst>
              <a:gd name="adj" fmla="val 2353"/>
            </a:avLst>
          </a:prstGeom>
          <a:solidFill>
            <a:srgbClr val="0E2233"/>
          </a:solidFill>
          <a:ln w="12700">
            <a:solidFill>
              <a:srgbClr val="13293D"/>
            </a:solidFill>
            <a:prstDash val="solid"/>
          </a:ln>
          <a:effectLst>
            <a:outerShdw blurRad="88900" dist="25400" dir="5400000" algn="bl" rotWithShape="0">
              <a:srgbClr val="26506E">
                <a:alpha val="30000"/>
              </a:srgbClr>
            </a:outerShdw>
          </a:effectLst>
        </p:spPr>
        <p:txBody>
          <a:bodyPr/>
          <a:lstStyle/>
          <a:p>
            <a:endParaRPr lang="en-US"/>
          </a:p>
        </p:txBody>
      </p:sp>
      <p:sp>
        <p:nvSpPr>
          <p:cNvPr id="7" name="Text 5"/>
          <p:cNvSpPr/>
          <p:nvPr/>
        </p:nvSpPr>
        <p:spPr>
          <a:xfrm>
            <a:off x="749808" y="1591056"/>
            <a:ext cx="4846320" cy="274320"/>
          </a:xfrm>
          <a:prstGeom prst="rect">
            <a:avLst/>
          </a:prstGeom>
          <a:noFill/>
          <a:ln/>
        </p:spPr>
        <p:txBody>
          <a:bodyPr wrap="square" rtlCol="0" anchor="ctr"/>
          <a:lstStyle/>
          <a:p>
            <a:pPr marL="0" indent="0" algn="l">
              <a:buNone/>
            </a:pPr>
            <a:r>
              <a:rPr lang="en-US" sz="1100" b="1" dirty="0">
                <a:solidFill>
                  <a:srgbClr val="E9C46A"/>
                </a:solidFill>
                <a:latin typeface="Courier New" pitchFamily="34" charset="0"/>
                <a:ea typeface="Courier New" pitchFamily="34" charset="-122"/>
                <a:cs typeface="Courier New" pitchFamily="34" charset="-120"/>
              </a:rPr>
              <a:t>db.py</a:t>
            </a:r>
            <a:endParaRPr lang="en-US" sz="1100" dirty="0"/>
          </a:p>
        </p:txBody>
      </p:sp>
      <p:sp>
        <p:nvSpPr>
          <p:cNvPr id="8" name="Text 6"/>
          <p:cNvSpPr/>
          <p:nvPr/>
        </p:nvSpPr>
        <p:spPr>
          <a:xfrm>
            <a:off x="749808" y="1938528"/>
            <a:ext cx="4809744" cy="1737360"/>
          </a:xfrm>
          <a:prstGeom prst="rect">
            <a:avLst/>
          </a:prstGeom>
          <a:noFill/>
          <a:ln/>
        </p:spPr>
        <p:txBody>
          <a:bodyPr wrap="square" lIns="0" tIns="0" rIns="0" bIns="0" rtlCol="0" anchor="t"/>
          <a:lstStyle/>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SELECT address, city, list_price, photo</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FROM   properties</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WHERE  list_price = (</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SELECT MAX(list_price)</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FROM   properties</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a:t>
            </a:r>
            <a:endParaRPr lang="en-US" sz="1150" dirty="0"/>
          </a:p>
        </p:txBody>
      </p:sp>
      <p:sp>
        <p:nvSpPr>
          <p:cNvPr id="11" name="Text 9"/>
          <p:cNvSpPr/>
          <p:nvPr/>
        </p:nvSpPr>
        <p:spPr>
          <a:xfrm>
            <a:off x="621557" y="4055716"/>
            <a:ext cx="4791456" cy="1965960"/>
          </a:xfrm>
          <a:prstGeom prst="rect">
            <a:avLst/>
          </a:prstGeom>
          <a:noFill/>
          <a:ln/>
        </p:spPr>
        <p:txBody>
          <a:bodyPr wrap="square" lIns="0" tIns="0" rIns="0" bIns="0" rtlCol="0" anchor="t"/>
          <a:lstStyle/>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Winner: 101 Summit Dr, Bethlehem — $640,000.</a:t>
            </a:r>
            <a:endParaRPr lang="en-US" sz="1250" dirty="0"/>
          </a:p>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House photos are stored in the database as image BLOBs.</a:t>
            </a:r>
            <a:endParaRPr lang="en-US" sz="1250" dirty="0"/>
          </a:p>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Double-click any row to open its detail window and render the photo.</a:t>
            </a:r>
            <a:endParaRPr lang="en-US" sz="1250" dirty="0"/>
          </a:p>
        </p:txBody>
      </p:sp>
      <p:sp>
        <p:nvSpPr>
          <p:cNvPr id="12" name="Shape 10"/>
          <p:cNvSpPr/>
          <p:nvPr/>
        </p:nvSpPr>
        <p:spPr>
          <a:xfrm>
            <a:off x="6180303" y="1399032"/>
            <a:ext cx="5333034" cy="5157216"/>
          </a:xfrm>
          <a:prstGeom prst="roundRect">
            <a:avLst>
              <a:gd name="adj" fmla="val 887"/>
            </a:avLst>
          </a:prstGeom>
          <a:solidFill>
            <a:srgbClr val="FFFFFF"/>
          </a:solidFill>
          <a:ln w="12700">
            <a:solidFill>
              <a:srgbClr val="D5DEE7"/>
            </a:solidFill>
            <a:prstDash val="solid"/>
          </a:ln>
          <a:effectLst>
            <a:outerShdw blurRad="114300" dist="38100" dir="5400000" algn="bl" rotWithShape="0">
              <a:srgbClr val="8A9BAC">
                <a:alpha val="35000"/>
              </a:srgbClr>
            </a:outerShdw>
          </a:effectLst>
        </p:spPr>
        <p:txBody>
          <a:bodyPr/>
          <a:lstStyle/>
          <a:p>
            <a:endParaRPr lang="en-US"/>
          </a:p>
        </p:txBody>
      </p:sp>
      <p:pic>
        <p:nvPicPr>
          <p:cNvPr id="13" name="Image 0" descr="C:\Users\dhanu\Downloads\databasesystemsproject\queryE.jpg"/>
          <p:cNvPicPr>
            <a:picLocks noChangeAspect="1"/>
          </p:cNvPicPr>
          <p:nvPr/>
        </p:nvPicPr>
        <p:blipFill>
          <a:blip r:embed="rId3"/>
          <a:stretch>
            <a:fillRect/>
          </a:stretch>
        </p:blipFill>
        <p:spPr>
          <a:xfrm>
            <a:off x="6244311" y="1463040"/>
            <a:ext cx="5205018" cy="5029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E9C46A"/>
          </a:solidFill>
          <a:ln/>
          <a:effectLst>
            <a:outerShdw blurRad="63500" dist="25400" dir="5400000" algn="bl" rotWithShape="0">
              <a:srgbClr val="B98A2E">
                <a:alpha val="40000"/>
              </a:srgbClr>
            </a:outerShdw>
          </a:effectLst>
        </p:spPr>
        <p:txBody>
          <a:bodyPr/>
          <a:lstStyle/>
          <a:p>
            <a:endParaRPr lang="en-US"/>
          </a:p>
        </p:txBody>
      </p:sp>
      <p:sp>
        <p:nvSpPr>
          <p:cNvPr id="3" name="Text 1"/>
          <p:cNvSpPr/>
          <p:nvPr/>
        </p:nvSpPr>
        <p:spPr>
          <a:xfrm>
            <a:off x="502920" y="365760"/>
            <a:ext cx="658368" cy="658368"/>
          </a:xfrm>
          <a:prstGeom prst="rect">
            <a:avLst/>
          </a:prstGeom>
          <a:noFill/>
          <a:ln/>
        </p:spPr>
        <p:txBody>
          <a:bodyPr wrap="square" rtlCol="0" anchor="ctr"/>
          <a:lstStyle/>
          <a:p>
            <a:pPr marL="0" indent="0" algn="ctr">
              <a:buNone/>
            </a:pPr>
            <a:r>
              <a:rPr lang="en-US" sz="2600" b="1" dirty="0">
                <a:solidFill>
                  <a:srgbClr val="13293D"/>
                </a:solidFill>
                <a:latin typeface="Cambria" pitchFamily="34" charset="0"/>
                <a:ea typeface="Cambria" pitchFamily="34" charset="-122"/>
                <a:cs typeface="Cambria" pitchFamily="34" charset="-120"/>
              </a:rPr>
              <a:t>F</a:t>
            </a:r>
            <a:endParaRPr lang="en-US" sz="2600" dirty="0"/>
          </a:p>
        </p:txBody>
      </p:sp>
      <p:sp>
        <p:nvSpPr>
          <p:cNvPr id="4" name="Text 2"/>
          <p:cNvSpPr/>
          <p:nvPr/>
        </p:nvSpPr>
        <p:spPr>
          <a:xfrm>
            <a:off x="1325880" y="365760"/>
            <a:ext cx="10332720" cy="566928"/>
          </a:xfrm>
          <a:prstGeom prst="rect">
            <a:avLst/>
          </a:prstGeom>
          <a:noFill/>
          <a:ln/>
        </p:spPr>
        <p:txBody>
          <a:bodyPr wrap="square" rtlCol="0" anchor="ctr"/>
          <a:lstStyle/>
          <a:p>
            <a:pPr marL="0" indent="0" algn="l">
              <a:buNone/>
            </a:pPr>
            <a:r>
              <a:rPr lang="en-US" sz="2900" b="1" dirty="0">
                <a:solidFill>
                  <a:srgbClr val="13293D"/>
                </a:solidFill>
                <a:latin typeface="Cambria" pitchFamily="34" charset="0"/>
                <a:ea typeface="Cambria" pitchFamily="34" charset="-122"/>
                <a:cs typeface="Cambria" pitchFamily="34" charset="-120"/>
              </a:rPr>
              <a:t>Record a sale</a:t>
            </a:r>
            <a:endParaRPr lang="en-US" sz="2900" dirty="0"/>
          </a:p>
        </p:txBody>
      </p:sp>
      <p:sp>
        <p:nvSpPr>
          <p:cNvPr id="5" name="Text 3"/>
          <p:cNvSpPr/>
          <p:nvPr/>
        </p:nvSpPr>
        <p:spPr>
          <a:xfrm>
            <a:off x="1344168" y="969264"/>
            <a:ext cx="10332720" cy="402336"/>
          </a:xfrm>
          <a:prstGeom prst="rect">
            <a:avLst/>
          </a:prstGeom>
          <a:noFill/>
          <a:ln/>
        </p:spPr>
        <p:txBody>
          <a:bodyPr wrap="square" rtlCol="0" anchor="ctr"/>
          <a:lstStyle/>
          <a:p>
            <a:pPr marL="0" indent="0" algn="l">
              <a:buNone/>
            </a:pPr>
            <a:r>
              <a:rPr lang="en-US" sz="1450" i="1" dirty="0">
                <a:solidFill>
                  <a:srgbClr val="2A6F97"/>
                </a:solidFill>
                <a:latin typeface="Calibri" pitchFamily="34" charset="0"/>
                <a:ea typeface="Calibri" pitchFamily="34" charset="-122"/>
                <a:cs typeface="Calibri" pitchFamily="34" charset="-120"/>
              </a:rPr>
              <a:t>Record the sale of a listed home — price, buyer, selling agent, buyer’s agent (optional), and date.</a:t>
            </a:r>
            <a:endParaRPr lang="en-US" sz="1450" dirty="0"/>
          </a:p>
        </p:txBody>
      </p:sp>
      <p:sp>
        <p:nvSpPr>
          <p:cNvPr id="6" name="Shape 4"/>
          <p:cNvSpPr/>
          <p:nvPr/>
        </p:nvSpPr>
        <p:spPr>
          <a:xfrm>
            <a:off x="2338115" y="1417320"/>
            <a:ext cx="7485290" cy="2743200"/>
          </a:xfrm>
          <a:prstGeom prst="roundRect">
            <a:avLst>
              <a:gd name="adj" fmla="val 1667"/>
            </a:avLst>
          </a:prstGeom>
          <a:solidFill>
            <a:srgbClr val="FFFFFF"/>
          </a:solidFill>
          <a:ln w="12700">
            <a:solidFill>
              <a:srgbClr val="D5DEE7"/>
            </a:solidFill>
            <a:prstDash val="solid"/>
          </a:ln>
          <a:effectLst>
            <a:outerShdw blurRad="114300" dist="38100" dir="5400000" algn="bl" rotWithShape="0">
              <a:srgbClr val="8A9BAC">
                <a:alpha val="35000"/>
              </a:srgbClr>
            </a:outerShdw>
          </a:effectLst>
        </p:spPr>
        <p:txBody>
          <a:bodyPr/>
          <a:lstStyle/>
          <a:p>
            <a:endParaRPr lang="en-US"/>
          </a:p>
        </p:txBody>
      </p:sp>
      <p:pic>
        <p:nvPicPr>
          <p:cNvPr id="7" name="Image 0" descr="C:\Users\dhanu\Downloads\databasesystemsproject\queryFp1.jpg"/>
          <p:cNvPicPr>
            <a:picLocks noChangeAspect="1"/>
          </p:cNvPicPr>
          <p:nvPr/>
        </p:nvPicPr>
        <p:blipFill>
          <a:blip r:embed="rId3"/>
          <a:stretch>
            <a:fillRect/>
          </a:stretch>
        </p:blipFill>
        <p:spPr>
          <a:xfrm>
            <a:off x="2402123" y="1481328"/>
            <a:ext cx="7357274" cy="2615184"/>
          </a:xfrm>
          <a:prstGeom prst="rect">
            <a:avLst/>
          </a:prstGeom>
        </p:spPr>
      </p:pic>
      <p:sp>
        <p:nvSpPr>
          <p:cNvPr id="8" name="Text 5"/>
          <p:cNvSpPr/>
          <p:nvPr/>
        </p:nvSpPr>
        <p:spPr>
          <a:xfrm>
            <a:off x="2338115" y="4178808"/>
            <a:ext cx="7485290" cy="256032"/>
          </a:xfrm>
          <a:prstGeom prst="rect">
            <a:avLst/>
          </a:prstGeom>
          <a:noFill/>
          <a:ln/>
        </p:spPr>
        <p:txBody>
          <a:bodyPr wrap="square" rtlCol="0" anchor="ctr"/>
          <a:lstStyle/>
          <a:p>
            <a:pPr marL="0" indent="0" algn="ctr">
              <a:buNone/>
            </a:pPr>
            <a:endParaRPr lang="en-US" sz="1100" dirty="0"/>
          </a:p>
        </p:txBody>
      </p:sp>
      <p:sp>
        <p:nvSpPr>
          <p:cNvPr id="9" name="Shape 6"/>
          <p:cNvSpPr/>
          <p:nvPr/>
        </p:nvSpPr>
        <p:spPr>
          <a:xfrm>
            <a:off x="548640" y="4315968"/>
            <a:ext cx="6720840" cy="2194560"/>
          </a:xfrm>
          <a:prstGeom prst="roundRect">
            <a:avLst>
              <a:gd name="adj" fmla="val 2500"/>
            </a:avLst>
          </a:prstGeom>
          <a:solidFill>
            <a:srgbClr val="0E2233"/>
          </a:solidFill>
          <a:ln w="12700">
            <a:solidFill>
              <a:srgbClr val="13293D"/>
            </a:solidFill>
            <a:prstDash val="solid"/>
          </a:ln>
          <a:effectLst>
            <a:outerShdw blurRad="88900" dist="25400" dir="5400000" algn="bl" rotWithShape="0">
              <a:srgbClr val="26506E">
                <a:alpha val="30000"/>
              </a:srgbClr>
            </a:outerShdw>
          </a:effectLst>
        </p:spPr>
        <p:txBody>
          <a:bodyPr/>
          <a:lstStyle/>
          <a:p>
            <a:endParaRPr lang="en-US"/>
          </a:p>
        </p:txBody>
      </p:sp>
      <p:sp>
        <p:nvSpPr>
          <p:cNvPr id="10" name="Text 7"/>
          <p:cNvSpPr/>
          <p:nvPr/>
        </p:nvSpPr>
        <p:spPr>
          <a:xfrm>
            <a:off x="749808" y="4425696"/>
            <a:ext cx="6355080" cy="274320"/>
          </a:xfrm>
          <a:prstGeom prst="rect">
            <a:avLst/>
          </a:prstGeom>
          <a:noFill/>
          <a:ln/>
        </p:spPr>
        <p:txBody>
          <a:bodyPr wrap="square" rtlCol="0" anchor="ctr"/>
          <a:lstStyle/>
          <a:p>
            <a:pPr marL="0" indent="0" algn="l">
              <a:buNone/>
            </a:pPr>
            <a:r>
              <a:rPr lang="en-US" sz="1100" b="1" dirty="0">
                <a:solidFill>
                  <a:srgbClr val="E9C46A"/>
                </a:solidFill>
                <a:latin typeface="Courier New" pitchFamily="34" charset="0"/>
                <a:ea typeface="Courier New" pitchFamily="34" charset="-122"/>
                <a:cs typeface="Courier New" pitchFamily="34" charset="-120"/>
              </a:rPr>
              <a:t>db.py  ·  record_sale()</a:t>
            </a:r>
            <a:endParaRPr lang="en-US" sz="1100" dirty="0"/>
          </a:p>
        </p:txBody>
      </p:sp>
      <p:sp>
        <p:nvSpPr>
          <p:cNvPr id="11" name="Text 8"/>
          <p:cNvSpPr/>
          <p:nvPr/>
        </p:nvSpPr>
        <p:spPr>
          <a:xfrm>
            <a:off x="749808" y="4773168"/>
            <a:ext cx="6318504" cy="1600200"/>
          </a:xfrm>
          <a:prstGeom prst="rect">
            <a:avLst/>
          </a:prstGeom>
          <a:noFill/>
          <a:ln/>
        </p:spPr>
        <p:txBody>
          <a:bodyPr wrap="square" lIns="0" tIns="0" rIns="0" bIns="0" rtlCol="0" anchor="t"/>
          <a:lstStyle/>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first check the property isn't already sold</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INSERT INTO sales</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(property_id, buyer_id, selling_agent_id,</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buyer_agent_id, sale_price, sale_date)</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VALUES (?, ?, ?, ?, ?, ?);</a:t>
            </a:r>
            <a:endParaRPr lang="en-US" sz="1150" dirty="0"/>
          </a:p>
        </p:txBody>
      </p:sp>
      <p:sp>
        <p:nvSpPr>
          <p:cNvPr id="14" name="Text 11"/>
          <p:cNvSpPr/>
          <p:nvPr/>
        </p:nvSpPr>
        <p:spPr>
          <a:xfrm>
            <a:off x="7470648" y="4362743"/>
            <a:ext cx="3721608" cy="1645920"/>
          </a:xfrm>
          <a:prstGeom prst="rect">
            <a:avLst/>
          </a:prstGeom>
          <a:noFill/>
          <a:ln/>
        </p:spPr>
        <p:txBody>
          <a:bodyPr wrap="square" lIns="0" tIns="0" rIns="0" bIns="0" rtlCol="0" anchor="t"/>
          <a:lstStyle/>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The buyer’s-agent field may be left empty (“(none)”).</a:t>
            </a:r>
            <a:endParaRPr lang="en-US" sz="1250" dirty="0"/>
          </a:p>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A guard rejects selling a home that is already sold.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E9C46A"/>
          </a:solidFill>
          <a:ln/>
          <a:effectLst>
            <a:outerShdw blurRad="63500" dist="25400" dir="5400000" algn="bl" rotWithShape="0">
              <a:srgbClr val="B98A2E">
                <a:alpha val="40000"/>
              </a:srgbClr>
            </a:outerShdw>
          </a:effectLst>
        </p:spPr>
        <p:txBody>
          <a:bodyPr/>
          <a:lstStyle/>
          <a:p>
            <a:endParaRPr lang="en-US"/>
          </a:p>
        </p:txBody>
      </p:sp>
      <p:sp>
        <p:nvSpPr>
          <p:cNvPr id="3" name="Text 1"/>
          <p:cNvSpPr/>
          <p:nvPr/>
        </p:nvSpPr>
        <p:spPr>
          <a:xfrm>
            <a:off x="502920" y="365760"/>
            <a:ext cx="658368" cy="658368"/>
          </a:xfrm>
          <a:prstGeom prst="rect">
            <a:avLst/>
          </a:prstGeom>
          <a:noFill/>
          <a:ln/>
        </p:spPr>
        <p:txBody>
          <a:bodyPr wrap="square" rtlCol="0" anchor="ctr"/>
          <a:lstStyle/>
          <a:p>
            <a:pPr marL="0" indent="0" algn="ctr">
              <a:buNone/>
            </a:pPr>
            <a:r>
              <a:rPr lang="en-US" sz="2600" b="1" dirty="0">
                <a:solidFill>
                  <a:srgbClr val="13293D"/>
                </a:solidFill>
                <a:latin typeface="Cambria" pitchFamily="34" charset="0"/>
                <a:ea typeface="Cambria" pitchFamily="34" charset="-122"/>
                <a:cs typeface="Cambria" pitchFamily="34" charset="-120"/>
              </a:rPr>
              <a:t>F</a:t>
            </a:r>
            <a:endParaRPr lang="en-US" sz="2600" dirty="0"/>
          </a:p>
        </p:txBody>
      </p:sp>
      <p:sp>
        <p:nvSpPr>
          <p:cNvPr id="4" name="Text 2"/>
          <p:cNvSpPr/>
          <p:nvPr/>
        </p:nvSpPr>
        <p:spPr>
          <a:xfrm>
            <a:off x="1325880" y="365760"/>
            <a:ext cx="10332720" cy="566928"/>
          </a:xfrm>
          <a:prstGeom prst="rect">
            <a:avLst/>
          </a:prstGeom>
          <a:noFill/>
          <a:ln/>
        </p:spPr>
        <p:txBody>
          <a:bodyPr wrap="square" rtlCol="0" anchor="ctr"/>
          <a:lstStyle/>
          <a:p>
            <a:pPr marL="0" indent="0" algn="l">
              <a:buNone/>
            </a:pPr>
            <a:r>
              <a:rPr lang="en-US" sz="2900" b="1" dirty="0">
                <a:solidFill>
                  <a:srgbClr val="13293D"/>
                </a:solidFill>
                <a:latin typeface="Cambria" pitchFamily="34" charset="0"/>
                <a:ea typeface="Cambria" pitchFamily="34" charset="-122"/>
                <a:cs typeface="Cambria" pitchFamily="34" charset="-120"/>
              </a:rPr>
              <a:t>Flow through the rest of the system</a:t>
            </a:r>
            <a:endParaRPr lang="en-US" sz="2900" dirty="0"/>
          </a:p>
        </p:txBody>
      </p:sp>
      <p:sp>
        <p:nvSpPr>
          <p:cNvPr id="5" name="Text 3"/>
          <p:cNvSpPr/>
          <p:nvPr/>
        </p:nvSpPr>
        <p:spPr>
          <a:xfrm>
            <a:off x="1344168" y="969264"/>
            <a:ext cx="10332720" cy="402336"/>
          </a:xfrm>
          <a:prstGeom prst="rect">
            <a:avLst/>
          </a:prstGeom>
          <a:noFill/>
          <a:ln/>
        </p:spPr>
        <p:txBody>
          <a:bodyPr wrap="square" rtlCol="0" anchor="ctr"/>
          <a:lstStyle/>
          <a:p>
            <a:pPr marL="0" indent="0" algn="l">
              <a:buNone/>
            </a:pPr>
            <a:r>
              <a:rPr lang="en-US" sz="1450" i="1" dirty="0">
                <a:solidFill>
                  <a:srgbClr val="2A6F97"/>
                </a:solidFill>
                <a:latin typeface="Calibri" pitchFamily="34" charset="0"/>
                <a:ea typeface="Calibri" pitchFamily="34" charset="-122"/>
                <a:cs typeface="Calibri" pitchFamily="34" charset="-120"/>
              </a:rPr>
              <a:t>Once recorded, the sale instantly changes every derived view.</a:t>
            </a:r>
            <a:endParaRPr lang="en-US" sz="1450" dirty="0"/>
          </a:p>
        </p:txBody>
      </p:sp>
      <p:sp>
        <p:nvSpPr>
          <p:cNvPr id="6" name="Shape 4"/>
          <p:cNvSpPr/>
          <p:nvPr/>
        </p:nvSpPr>
        <p:spPr>
          <a:xfrm>
            <a:off x="1832809" y="1490472"/>
            <a:ext cx="8587342" cy="2871216"/>
          </a:xfrm>
          <a:prstGeom prst="roundRect">
            <a:avLst>
              <a:gd name="adj" fmla="val 1592"/>
            </a:avLst>
          </a:prstGeom>
          <a:solidFill>
            <a:srgbClr val="FFFFFF"/>
          </a:solidFill>
          <a:ln w="12700">
            <a:solidFill>
              <a:srgbClr val="D5DEE7"/>
            </a:solidFill>
            <a:prstDash val="solid"/>
          </a:ln>
          <a:effectLst>
            <a:outerShdw blurRad="114300" dist="38100" dir="5400000" algn="bl" rotWithShape="0">
              <a:srgbClr val="8A9BAC">
                <a:alpha val="35000"/>
              </a:srgbClr>
            </a:outerShdw>
          </a:effectLst>
        </p:spPr>
        <p:txBody>
          <a:bodyPr/>
          <a:lstStyle/>
          <a:p>
            <a:endParaRPr lang="en-US"/>
          </a:p>
        </p:txBody>
      </p:sp>
      <p:pic>
        <p:nvPicPr>
          <p:cNvPr id="7" name="Image 0" descr="C:\Users\dhanu\Downloads\databasesystemsproject\queryFp2.jpg"/>
          <p:cNvPicPr>
            <a:picLocks noChangeAspect="1"/>
          </p:cNvPicPr>
          <p:nvPr/>
        </p:nvPicPr>
        <p:blipFill>
          <a:blip r:embed="rId3"/>
          <a:stretch>
            <a:fillRect/>
          </a:stretch>
        </p:blipFill>
        <p:spPr>
          <a:xfrm>
            <a:off x="1896817" y="1554480"/>
            <a:ext cx="8459326" cy="2743200"/>
          </a:xfrm>
          <a:prstGeom prst="rect">
            <a:avLst/>
          </a:prstGeom>
        </p:spPr>
      </p:pic>
      <p:sp>
        <p:nvSpPr>
          <p:cNvPr id="8" name="Text 5"/>
          <p:cNvSpPr/>
          <p:nvPr/>
        </p:nvSpPr>
        <p:spPr>
          <a:xfrm>
            <a:off x="1832809" y="4379976"/>
            <a:ext cx="8587342" cy="256032"/>
          </a:xfrm>
          <a:prstGeom prst="rect">
            <a:avLst/>
          </a:prstGeom>
          <a:noFill/>
          <a:ln/>
        </p:spPr>
        <p:txBody>
          <a:bodyPr wrap="square" rtlCol="0" anchor="ctr"/>
          <a:lstStyle/>
          <a:p>
            <a:pPr marL="0" indent="0" algn="ctr">
              <a:buNone/>
            </a:pPr>
            <a:endParaRPr lang="en-US" sz="1100" dirty="0"/>
          </a:p>
        </p:txBody>
      </p:sp>
      <p:sp>
        <p:nvSpPr>
          <p:cNvPr id="11" name="Text 8"/>
          <p:cNvSpPr/>
          <p:nvPr/>
        </p:nvSpPr>
        <p:spPr>
          <a:xfrm>
            <a:off x="768096" y="4983480"/>
            <a:ext cx="10671048" cy="1371600"/>
          </a:xfrm>
          <a:prstGeom prst="rect">
            <a:avLst/>
          </a:prstGeom>
          <a:noFill/>
          <a:ln/>
        </p:spPr>
        <p:txBody>
          <a:bodyPr wrap="square" lIns="0" tIns="0" rIns="0" bIns="0" rtlCol="0" anchor="t"/>
          <a:lstStyle/>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The sold home immediately leaves the “for sale” search results.</a:t>
            </a:r>
            <a:endParaRPr lang="en-US" sz="1250" dirty="0"/>
          </a:p>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It appears in the agent-performance report for its year (Alice Nguyen 1 sale$640,000, listed 2004 → sold 2006 ≈ 955 days on market).</a:t>
            </a:r>
            <a:endParaRPr lang="en-US" sz="1250" dirty="0"/>
          </a:p>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Nothing is hand-updated: “for sale” status and every report are computed live from the sales table.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B"/>
        </a:solidFill>
        <a:effectLst/>
      </p:bgPr>
    </p:bg>
    <p:spTree>
      <p:nvGrpSpPr>
        <p:cNvPr id="1" name=""/>
        <p:cNvGrpSpPr/>
        <p:nvPr/>
      </p:nvGrpSpPr>
      <p:grpSpPr>
        <a:xfrm>
          <a:off x="0" y="0"/>
          <a:ext cx="0" cy="0"/>
          <a:chOff x="0" y="0"/>
          <a:chExt cx="0" cy="0"/>
        </a:xfrm>
      </p:grpSpPr>
      <p:sp>
        <p:nvSpPr>
          <p:cNvPr id="2" name="Shape 0"/>
          <p:cNvSpPr/>
          <p:nvPr/>
        </p:nvSpPr>
        <p:spPr>
          <a:xfrm>
            <a:off x="502920" y="384048"/>
            <a:ext cx="658368" cy="658368"/>
          </a:xfrm>
          <a:prstGeom prst="ellipse">
            <a:avLst/>
          </a:prstGeom>
          <a:solidFill>
            <a:srgbClr val="E9C46A"/>
          </a:solidFill>
          <a:ln/>
          <a:effectLst>
            <a:outerShdw blurRad="63500" dist="25400" dir="5400000" algn="bl" rotWithShape="0">
              <a:srgbClr val="B98A2E">
                <a:alpha val="40000"/>
              </a:srgbClr>
            </a:outerShdw>
          </a:effectLst>
        </p:spPr>
        <p:txBody>
          <a:bodyPr/>
          <a:lstStyle/>
          <a:p>
            <a:endParaRPr lang="en-US"/>
          </a:p>
        </p:txBody>
      </p:sp>
      <p:sp>
        <p:nvSpPr>
          <p:cNvPr id="3" name="Text 1"/>
          <p:cNvSpPr/>
          <p:nvPr/>
        </p:nvSpPr>
        <p:spPr>
          <a:xfrm>
            <a:off x="502920" y="365760"/>
            <a:ext cx="658368" cy="658368"/>
          </a:xfrm>
          <a:prstGeom prst="rect">
            <a:avLst/>
          </a:prstGeom>
          <a:noFill/>
          <a:ln/>
        </p:spPr>
        <p:txBody>
          <a:bodyPr wrap="square" rtlCol="0" anchor="ctr"/>
          <a:lstStyle/>
          <a:p>
            <a:pPr marL="0" indent="0" algn="ctr">
              <a:buNone/>
            </a:pPr>
            <a:r>
              <a:rPr lang="en-US" sz="2600" b="1" dirty="0">
                <a:solidFill>
                  <a:srgbClr val="13293D"/>
                </a:solidFill>
                <a:latin typeface="Cambria" pitchFamily="34" charset="0"/>
                <a:ea typeface="Cambria" pitchFamily="34" charset="-122"/>
                <a:cs typeface="Cambria" pitchFamily="34" charset="-120"/>
              </a:rPr>
              <a:t>G</a:t>
            </a:r>
            <a:endParaRPr lang="en-US" sz="2600" dirty="0"/>
          </a:p>
        </p:txBody>
      </p:sp>
      <p:sp>
        <p:nvSpPr>
          <p:cNvPr id="4" name="Text 2"/>
          <p:cNvSpPr/>
          <p:nvPr/>
        </p:nvSpPr>
        <p:spPr>
          <a:xfrm>
            <a:off x="1325880" y="365760"/>
            <a:ext cx="10332720" cy="566928"/>
          </a:xfrm>
          <a:prstGeom prst="rect">
            <a:avLst/>
          </a:prstGeom>
          <a:noFill/>
          <a:ln/>
        </p:spPr>
        <p:txBody>
          <a:bodyPr wrap="square" rtlCol="0" anchor="ctr"/>
          <a:lstStyle/>
          <a:p>
            <a:pPr marL="0" indent="0" algn="l">
              <a:buNone/>
            </a:pPr>
            <a:r>
              <a:rPr lang="en-US" sz="2900" b="1" dirty="0">
                <a:solidFill>
                  <a:srgbClr val="13293D"/>
                </a:solidFill>
                <a:latin typeface="Cambria" pitchFamily="34" charset="0"/>
                <a:ea typeface="Cambria" pitchFamily="34" charset="-122"/>
                <a:cs typeface="Cambria" pitchFamily="34" charset="-120"/>
              </a:rPr>
              <a:t>Add a new agent</a:t>
            </a:r>
            <a:endParaRPr lang="en-US" sz="2900" dirty="0"/>
          </a:p>
        </p:txBody>
      </p:sp>
      <p:sp>
        <p:nvSpPr>
          <p:cNvPr id="5" name="Text 3"/>
          <p:cNvSpPr/>
          <p:nvPr/>
        </p:nvSpPr>
        <p:spPr>
          <a:xfrm>
            <a:off x="1344168" y="969264"/>
            <a:ext cx="10332720" cy="402336"/>
          </a:xfrm>
          <a:prstGeom prst="rect">
            <a:avLst/>
          </a:prstGeom>
          <a:noFill/>
          <a:ln/>
        </p:spPr>
        <p:txBody>
          <a:bodyPr wrap="square" rtlCol="0" anchor="ctr"/>
          <a:lstStyle/>
          <a:p>
            <a:pPr marL="0" indent="0" algn="l">
              <a:buNone/>
            </a:pPr>
            <a:r>
              <a:rPr lang="en-US" sz="1450" i="1" dirty="0">
                <a:solidFill>
                  <a:srgbClr val="2A6F97"/>
                </a:solidFill>
                <a:latin typeface="Calibri" pitchFamily="34" charset="0"/>
                <a:ea typeface="Calibri" pitchFamily="34" charset="-122"/>
                <a:cs typeface="Calibri" pitchFamily="34" charset="-120"/>
              </a:rPr>
              <a:t>Add a new agent to the database.</a:t>
            </a:r>
            <a:endParaRPr lang="en-US" sz="1450" dirty="0"/>
          </a:p>
        </p:txBody>
      </p:sp>
      <p:sp>
        <p:nvSpPr>
          <p:cNvPr id="6" name="Shape 4"/>
          <p:cNvSpPr/>
          <p:nvPr/>
        </p:nvSpPr>
        <p:spPr>
          <a:xfrm>
            <a:off x="548640" y="1481328"/>
            <a:ext cx="4343400" cy="1737360"/>
          </a:xfrm>
          <a:prstGeom prst="roundRect">
            <a:avLst>
              <a:gd name="adj" fmla="val 3158"/>
            </a:avLst>
          </a:prstGeom>
          <a:solidFill>
            <a:srgbClr val="0E2233"/>
          </a:solidFill>
          <a:ln w="12700">
            <a:solidFill>
              <a:srgbClr val="13293D"/>
            </a:solidFill>
            <a:prstDash val="solid"/>
          </a:ln>
          <a:effectLst>
            <a:outerShdw blurRad="88900" dist="25400" dir="5400000" algn="bl" rotWithShape="0">
              <a:srgbClr val="26506E">
                <a:alpha val="30000"/>
              </a:srgbClr>
            </a:outerShdw>
          </a:effectLst>
        </p:spPr>
        <p:txBody>
          <a:bodyPr/>
          <a:lstStyle/>
          <a:p>
            <a:endParaRPr lang="en-US"/>
          </a:p>
        </p:txBody>
      </p:sp>
      <p:sp>
        <p:nvSpPr>
          <p:cNvPr id="7" name="Text 5"/>
          <p:cNvSpPr/>
          <p:nvPr/>
        </p:nvSpPr>
        <p:spPr>
          <a:xfrm>
            <a:off x="749808" y="1591056"/>
            <a:ext cx="3977640" cy="274320"/>
          </a:xfrm>
          <a:prstGeom prst="rect">
            <a:avLst/>
          </a:prstGeom>
          <a:noFill/>
          <a:ln/>
        </p:spPr>
        <p:txBody>
          <a:bodyPr wrap="square" rtlCol="0" anchor="ctr"/>
          <a:lstStyle/>
          <a:p>
            <a:pPr marL="0" indent="0" algn="l">
              <a:buNone/>
            </a:pPr>
            <a:r>
              <a:rPr lang="en-US" sz="1100" b="1" dirty="0">
                <a:solidFill>
                  <a:srgbClr val="E9C46A"/>
                </a:solidFill>
                <a:latin typeface="Courier New" pitchFamily="34" charset="0"/>
                <a:ea typeface="Courier New" pitchFamily="34" charset="-122"/>
                <a:cs typeface="Courier New" pitchFamily="34" charset="-120"/>
              </a:rPr>
              <a:t>db.py  ·  add_agent()</a:t>
            </a:r>
            <a:endParaRPr lang="en-US" sz="1100" dirty="0"/>
          </a:p>
        </p:txBody>
      </p:sp>
      <p:sp>
        <p:nvSpPr>
          <p:cNvPr id="8" name="Text 6"/>
          <p:cNvSpPr/>
          <p:nvPr/>
        </p:nvSpPr>
        <p:spPr>
          <a:xfrm>
            <a:off x="749808" y="1938528"/>
            <a:ext cx="3941064" cy="1143000"/>
          </a:xfrm>
          <a:prstGeom prst="rect">
            <a:avLst/>
          </a:prstGeom>
          <a:noFill/>
          <a:ln/>
        </p:spPr>
        <p:txBody>
          <a:bodyPr wrap="square" lIns="0" tIns="0" rIns="0" bIns="0" rtlCol="0" anchor="t"/>
          <a:lstStyle/>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INSERT INTO agents</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(name, phone, email)</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VALUES (?, ?, ?);</a:t>
            </a:r>
            <a:endParaRPr lang="en-US" sz="1150" dirty="0"/>
          </a:p>
          <a:p>
            <a:pPr marL="0" indent="0" algn="l">
              <a:lnSpc>
                <a:spcPct val="106000"/>
              </a:lnSpc>
              <a:buNone/>
            </a:pPr>
            <a:r>
              <a:rPr lang="en-US" sz="1150" dirty="0">
                <a:solidFill>
                  <a:srgbClr val="D6E4F0"/>
                </a:solidFill>
                <a:latin typeface="Courier New" pitchFamily="34" charset="0"/>
                <a:ea typeface="Courier New" pitchFamily="34" charset="-122"/>
                <a:cs typeface="Courier New" pitchFamily="34" charset="-120"/>
              </a:rPr>
              <a:t>   </a:t>
            </a:r>
            <a:r>
              <a:rPr lang="en-US" sz="1150" i="1" dirty="0">
                <a:solidFill>
                  <a:srgbClr val="7FA6C9"/>
                </a:solidFill>
                <a:latin typeface="Courier New" pitchFamily="34" charset="0"/>
                <a:ea typeface="Courier New" pitchFamily="34" charset="-122"/>
                <a:cs typeface="Courier New" pitchFamily="34" charset="-120"/>
              </a:rPr>
              <a:t>-- email is UNIQUE</a:t>
            </a:r>
            <a:endParaRPr lang="en-US" sz="1150" dirty="0"/>
          </a:p>
        </p:txBody>
      </p:sp>
      <p:sp>
        <p:nvSpPr>
          <p:cNvPr id="11" name="Text 9"/>
          <p:cNvSpPr/>
          <p:nvPr/>
        </p:nvSpPr>
        <p:spPr>
          <a:xfrm>
            <a:off x="404681" y="3377032"/>
            <a:ext cx="3922776" cy="2514600"/>
          </a:xfrm>
          <a:prstGeom prst="rect">
            <a:avLst/>
          </a:prstGeom>
          <a:noFill/>
          <a:ln/>
        </p:spPr>
        <p:txBody>
          <a:bodyPr wrap="square" lIns="0" tIns="0" rIns="0" bIns="0" rtlCol="0" anchor="t"/>
          <a:lstStyle/>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New agent “Bart Simpson” is added as agent #6.</a:t>
            </a:r>
            <a:endParaRPr lang="en-US" sz="1250" dirty="0"/>
          </a:p>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The email column is UNIQUE so a duplicate email is rejected.</a:t>
            </a:r>
            <a:endParaRPr lang="en-US" sz="1250" dirty="0"/>
          </a:p>
          <a:p>
            <a:pPr marL="152400" indent="-152400" algn="l">
              <a:spcAft>
                <a:spcPts val="500"/>
              </a:spcAft>
              <a:buSzPct val="100000"/>
              <a:buChar char="•"/>
            </a:pPr>
            <a:r>
              <a:rPr lang="en-US" sz="1250" dirty="0">
                <a:solidFill>
                  <a:srgbClr val="1A2333"/>
                </a:solidFill>
                <a:latin typeface="Calibri" pitchFamily="34" charset="0"/>
                <a:ea typeface="Calibri" pitchFamily="34" charset="-122"/>
                <a:cs typeface="Calibri" pitchFamily="34" charset="-120"/>
              </a:rPr>
              <a:t>The new agent immediately becomes selectable when recording a sale.</a:t>
            </a:r>
            <a:endParaRPr lang="en-US" sz="1250" dirty="0"/>
          </a:p>
        </p:txBody>
      </p:sp>
      <p:sp>
        <p:nvSpPr>
          <p:cNvPr id="12" name="Shape 10"/>
          <p:cNvSpPr/>
          <p:nvPr/>
        </p:nvSpPr>
        <p:spPr>
          <a:xfrm>
            <a:off x="5102352" y="1624735"/>
            <a:ext cx="6620256" cy="1816305"/>
          </a:xfrm>
          <a:prstGeom prst="roundRect">
            <a:avLst>
              <a:gd name="adj" fmla="val 2517"/>
            </a:avLst>
          </a:prstGeom>
          <a:solidFill>
            <a:srgbClr val="FFFFFF"/>
          </a:solidFill>
          <a:ln w="12700">
            <a:solidFill>
              <a:srgbClr val="D5DEE7"/>
            </a:solidFill>
            <a:prstDash val="solid"/>
          </a:ln>
          <a:effectLst>
            <a:outerShdw blurRad="114300" dist="38100" dir="5400000" algn="bl" rotWithShape="0">
              <a:srgbClr val="8A9BAC">
                <a:alpha val="35000"/>
              </a:srgbClr>
            </a:outerShdw>
          </a:effectLst>
        </p:spPr>
        <p:txBody>
          <a:bodyPr/>
          <a:lstStyle/>
          <a:p>
            <a:endParaRPr lang="en-US"/>
          </a:p>
        </p:txBody>
      </p:sp>
      <p:pic>
        <p:nvPicPr>
          <p:cNvPr id="13" name="Image 0" descr="C:\Users\dhanu\Downloads\databasesystemsproject\quergyGp1.jpg"/>
          <p:cNvPicPr>
            <a:picLocks noChangeAspect="1"/>
          </p:cNvPicPr>
          <p:nvPr/>
        </p:nvPicPr>
        <p:blipFill>
          <a:blip r:embed="rId3"/>
          <a:stretch>
            <a:fillRect/>
          </a:stretch>
        </p:blipFill>
        <p:spPr>
          <a:xfrm>
            <a:off x="5166360" y="1688743"/>
            <a:ext cx="6492240" cy="1688289"/>
          </a:xfrm>
          <a:prstGeom prst="rect">
            <a:avLst/>
          </a:prstGeom>
        </p:spPr>
      </p:pic>
      <p:sp>
        <p:nvSpPr>
          <p:cNvPr id="14" name="Text 11"/>
          <p:cNvSpPr/>
          <p:nvPr/>
        </p:nvSpPr>
        <p:spPr>
          <a:xfrm>
            <a:off x="5102352" y="3459329"/>
            <a:ext cx="6620256" cy="256032"/>
          </a:xfrm>
          <a:prstGeom prst="rect">
            <a:avLst/>
          </a:prstGeom>
          <a:noFill/>
          <a:ln/>
        </p:spPr>
        <p:txBody>
          <a:bodyPr wrap="square" rtlCol="0" anchor="ctr"/>
          <a:lstStyle/>
          <a:p>
            <a:pPr marL="0" indent="0" algn="ctr">
              <a:buNone/>
            </a:pPr>
            <a:r>
              <a:rPr lang="en-US" sz="1100" i="1" dirty="0">
                <a:solidFill>
                  <a:srgbClr val="5E6E7E"/>
                </a:solidFill>
                <a:latin typeface="Calibri" pitchFamily="34" charset="0"/>
                <a:ea typeface="Calibri" pitchFamily="34" charset="-122"/>
                <a:cs typeface="Calibri" pitchFamily="34" charset="-120"/>
              </a:rPr>
              <a:t>Manage tab — the add-agent form</a:t>
            </a:r>
            <a:endParaRPr lang="en-US" sz="1100" dirty="0"/>
          </a:p>
        </p:txBody>
      </p:sp>
      <p:sp>
        <p:nvSpPr>
          <p:cNvPr id="15" name="Shape 12"/>
          <p:cNvSpPr/>
          <p:nvPr/>
        </p:nvSpPr>
        <p:spPr>
          <a:xfrm>
            <a:off x="5102352" y="4136092"/>
            <a:ext cx="6620256" cy="2151976"/>
          </a:xfrm>
          <a:prstGeom prst="roundRect">
            <a:avLst>
              <a:gd name="adj" fmla="val 2125"/>
            </a:avLst>
          </a:prstGeom>
          <a:solidFill>
            <a:srgbClr val="FFFFFF"/>
          </a:solidFill>
          <a:ln w="12700">
            <a:solidFill>
              <a:srgbClr val="D5DEE7"/>
            </a:solidFill>
            <a:prstDash val="solid"/>
          </a:ln>
          <a:effectLst>
            <a:outerShdw blurRad="114300" dist="38100" dir="5400000" algn="bl" rotWithShape="0">
              <a:srgbClr val="8A9BAC">
                <a:alpha val="35000"/>
              </a:srgbClr>
            </a:outerShdw>
          </a:effectLst>
        </p:spPr>
        <p:txBody>
          <a:bodyPr/>
          <a:lstStyle/>
          <a:p>
            <a:endParaRPr lang="en-US"/>
          </a:p>
        </p:txBody>
      </p:sp>
      <p:pic>
        <p:nvPicPr>
          <p:cNvPr id="16" name="Image 1" descr="C:\Users\dhanu\Downloads\databasesystemsproject\queryGp2.jpg"/>
          <p:cNvPicPr>
            <a:picLocks noChangeAspect="1"/>
          </p:cNvPicPr>
          <p:nvPr/>
        </p:nvPicPr>
        <p:blipFill>
          <a:blip r:embed="rId4"/>
          <a:stretch>
            <a:fillRect/>
          </a:stretch>
        </p:blipFill>
        <p:spPr>
          <a:xfrm>
            <a:off x="5166360" y="4200100"/>
            <a:ext cx="6492240" cy="2023960"/>
          </a:xfrm>
          <a:prstGeom prst="rect">
            <a:avLst/>
          </a:prstGeom>
        </p:spPr>
      </p:pic>
      <p:sp>
        <p:nvSpPr>
          <p:cNvPr id="17" name="Text 13"/>
          <p:cNvSpPr/>
          <p:nvPr/>
        </p:nvSpPr>
        <p:spPr>
          <a:xfrm>
            <a:off x="5102352" y="6306356"/>
            <a:ext cx="6620256" cy="256032"/>
          </a:xfrm>
          <a:prstGeom prst="rect">
            <a:avLst/>
          </a:prstGeom>
          <a:noFill/>
          <a:ln/>
        </p:spPr>
        <p:txBody>
          <a:bodyPr wrap="square" rtlCol="0" anchor="ctr"/>
          <a:lstStyle/>
          <a:p>
            <a:pPr marL="0" indent="0" algn="ctr">
              <a:buNone/>
            </a:pPr>
            <a:r>
              <a:rPr lang="en-US" sz="1100" i="1" dirty="0">
                <a:solidFill>
                  <a:srgbClr val="5E6E7E"/>
                </a:solidFill>
                <a:latin typeface="Calibri" pitchFamily="34" charset="0"/>
                <a:ea typeface="Calibri" pitchFamily="34" charset="-122"/>
                <a:cs typeface="Calibri" pitchFamily="34" charset="-120"/>
              </a:rPr>
              <a:t>…and the updated agent list, now including agent #6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E9C46A"/>
          </a:solidFill>
          <a:ln/>
        </p:spPr>
        <p:txBody>
          <a:bodyPr/>
          <a:lstStyle/>
          <a:p>
            <a:endParaRPr lang="en-US"/>
          </a:p>
        </p:txBody>
      </p:sp>
      <p:sp>
        <p:nvSpPr>
          <p:cNvPr id="3" name="Text 1"/>
          <p:cNvSpPr/>
          <p:nvPr/>
        </p:nvSpPr>
        <p:spPr>
          <a:xfrm>
            <a:off x="777240" y="640080"/>
            <a:ext cx="10058400" cy="73152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Summary</a:t>
            </a:r>
            <a:endParaRPr lang="en-US" sz="4000" dirty="0"/>
          </a:p>
        </p:txBody>
      </p:sp>
      <p:sp>
        <p:nvSpPr>
          <p:cNvPr id="5" name="Text 3"/>
          <p:cNvSpPr/>
          <p:nvPr/>
        </p:nvSpPr>
        <p:spPr>
          <a:xfrm>
            <a:off x="1325880" y="1673352"/>
            <a:ext cx="10058400" cy="36576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 complete real-estate office database</a:t>
            </a:r>
            <a:endParaRPr lang="en-US" sz="1800" dirty="0"/>
          </a:p>
        </p:txBody>
      </p:sp>
      <p:sp>
        <p:nvSpPr>
          <p:cNvPr id="8" name="Text 6"/>
          <p:cNvSpPr/>
          <p:nvPr/>
        </p:nvSpPr>
        <p:spPr>
          <a:xfrm>
            <a:off x="1325880" y="2587752"/>
            <a:ext cx="10058400" cy="36576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Clean separation of concerns</a:t>
            </a:r>
            <a:endParaRPr lang="en-US" sz="1800" dirty="0"/>
          </a:p>
        </p:txBody>
      </p:sp>
      <p:sp>
        <p:nvSpPr>
          <p:cNvPr id="11" name="Text 9"/>
          <p:cNvSpPr/>
          <p:nvPr/>
        </p:nvSpPr>
        <p:spPr>
          <a:xfrm>
            <a:off x="1325880" y="3502152"/>
            <a:ext cx="10058400" cy="36576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Every required query A–G</a:t>
            </a:r>
            <a:endParaRPr lang="en-US" sz="1800" dirty="0"/>
          </a:p>
        </p:txBody>
      </p:sp>
      <p:sp>
        <p:nvSpPr>
          <p:cNvPr id="14" name="Text 12"/>
          <p:cNvSpPr/>
          <p:nvPr/>
        </p:nvSpPr>
        <p:spPr>
          <a:xfrm>
            <a:off x="1325880" y="4416552"/>
            <a:ext cx="10058400" cy="36576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 schema that can’t drift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1931</Words>
  <Application>Microsoft Office PowerPoint</Application>
  <PresentationFormat>Widescreen</PresentationFormat>
  <Paragraphs>198</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Dhanush Annoji</cp:lastModifiedBy>
  <cp:revision>2</cp:revision>
  <dcterms:created xsi:type="dcterms:W3CDTF">2026-07-26T18:40:15Z</dcterms:created>
  <dcterms:modified xsi:type="dcterms:W3CDTF">2026-07-26T19:01:22Z</dcterms:modified>
</cp:coreProperties>
</file>